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4" r:id="rId8"/>
    <p:sldId id="263" r:id="rId9"/>
    <p:sldId id="262" r:id="rId10"/>
    <p:sldId id="265" r:id="rId11"/>
    <p:sldId id="268" r:id="rId12"/>
    <p:sldId id="266"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1950"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364F-9B60-4F5B-94F5-AA09B045AA9F}"/>
              </a:ext>
            </a:extLst>
          </p:cNvPr>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ko-KR" altLang="en-US"/>
          </a:p>
        </p:txBody>
      </p:sp>
      <p:sp>
        <p:nvSpPr>
          <p:cNvPr id="3" name="Subtitle 2">
            <a:extLst>
              <a:ext uri="{FF2B5EF4-FFF2-40B4-BE49-F238E27FC236}">
                <a16:creationId xmlns:a16="http://schemas.microsoft.com/office/drawing/2014/main" id="{833FD8CE-7BA3-4BB2-9A58-BDF4DA9A8F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ko-KR" altLang="en-US"/>
          </a:p>
        </p:txBody>
      </p:sp>
      <p:sp>
        <p:nvSpPr>
          <p:cNvPr id="4" name="Date Placeholder 3">
            <a:extLst>
              <a:ext uri="{FF2B5EF4-FFF2-40B4-BE49-F238E27FC236}">
                <a16:creationId xmlns:a16="http://schemas.microsoft.com/office/drawing/2014/main" id="{9BAC8228-30C1-4716-AD2D-0CB133E45EEC}"/>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5" name="Footer Placeholder 4">
            <a:extLst>
              <a:ext uri="{FF2B5EF4-FFF2-40B4-BE49-F238E27FC236}">
                <a16:creationId xmlns:a16="http://schemas.microsoft.com/office/drawing/2014/main" id="{AC223EC9-11F9-494C-B451-31D46325580A}"/>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BB6C246D-D905-441D-A4A4-B9093D68116F}"/>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2057130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7C9A2-9912-4D21-BAF3-DE1FF3CE9C90}"/>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A67439E6-5A7A-4681-AF5A-D9149941608E}"/>
              </a:ext>
            </a:extLst>
          </p:cNvPr>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90C175D5-2220-4499-B57F-262A5A907792}"/>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5" name="Footer Placeholder 4">
            <a:extLst>
              <a:ext uri="{FF2B5EF4-FFF2-40B4-BE49-F238E27FC236}">
                <a16:creationId xmlns:a16="http://schemas.microsoft.com/office/drawing/2014/main" id="{A1553551-40C4-4858-B6A3-BD713A4FE4AF}"/>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15111B62-E86D-4E16-AFE6-173434920ECB}"/>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1328928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964C1-1942-4187-8864-D2D7B4330EF0}"/>
              </a:ext>
            </a:extLst>
          </p:cNvPr>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D64F72CC-AB1F-4BA6-8BDF-F91A9BDE4D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a:t>Click to edit Master text styles</a:t>
            </a:r>
          </a:p>
        </p:txBody>
      </p:sp>
      <p:sp>
        <p:nvSpPr>
          <p:cNvPr id="4" name="Date Placeholder 3">
            <a:extLst>
              <a:ext uri="{FF2B5EF4-FFF2-40B4-BE49-F238E27FC236}">
                <a16:creationId xmlns:a16="http://schemas.microsoft.com/office/drawing/2014/main" id="{87BF974E-97B3-4A4B-ABD7-E80861E54D83}"/>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5" name="Footer Placeholder 4">
            <a:extLst>
              <a:ext uri="{FF2B5EF4-FFF2-40B4-BE49-F238E27FC236}">
                <a16:creationId xmlns:a16="http://schemas.microsoft.com/office/drawing/2014/main" id="{16024652-8C07-4069-B562-6CBEF09FF3E0}"/>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604B29E0-A7CC-4301-B371-6D8852E9DA88}"/>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4055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F498-A997-4A4B-BB97-A6871FFF0150}"/>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F48C15B0-B29E-4993-A0F7-D07B04CE1929}"/>
              </a:ext>
            </a:extLst>
          </p:cNvPr>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Content Placeholder 3">
            <a:extLst>
              <a:ext uri="{FF2B5EF4-FFF2-40B4-BE49-F238E27FC236}">
                <a16:creationId xmlns:a16="http://schemas.microsoft.com/office/drawing/2014/main" id="{B01FDEE9-ADF0-4BAD-A9E0-9269FDCF4EC9}"/>
              </a:ext>
            </a:extLst>
          </p:cNvPr>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Date Placeholder 4">
            <a:extLst>
              <a:ext uri="{FF2B5EF4-FFF2-40B4-BE49-F238E27FC236}">
                <a16:creationId xmlns:a16="http://schemas.microsoft.com/office/drawing/2014/main" id="{1E373D13-33BB-4D3C-B149-4F04668A0972}"/>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6" name="Footer Placeholder 5">
            <a:extLst>
              <a:ext uri="{FF2B5EF4-FFF2-40B4-BE49-F238E27FC236}">
                <a16:creationId xmlns:a16="http://schemas.microsoft.com/office/drawing/2014/main" id="{C0872BDE-39D1-4AC8-B12C-C18F4A766ABF}"/>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B46ED6B0-6475-42EF-91B6-15693D721114}"/>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2874771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BB07-55E4-46DB-A397-F46C8D8CE214}"/>
              </a:ext>
            </a:extLst>
          </p:cNvPr>
          <p:cNvSpPr>
            <a:spLocks noGrp="1"/>
          </p:cNvSpPr>
          <p:nvPr>
            <p:ph type="title"/>
          </p:nvPr>
        </p:nvSpPr>
        <p:spPr>
          <a:xfrm>
            <a:off x="839788" y="365125"/>
            <a:ext cx="10515600" cy="1325563"/>
          </a:xfrm>
        </p:spPr>
        <p:txBody>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21BFFC5F-FCB8-4578-810D-BB766F29A0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a:extLst>
              <a:ext uri="{FF2B5EF4-FFF2-40B4-BE49-F238E27FC236}">
                <a16:creationId xmlns:a16="http://schemas.microsoft.com/office/drawing/2014/main" id="{5F21E1BA-AFA1-45C8-8589-8F7E8C400F06}"/>
              </a:ext>
            </a:extLst>
          </p:cNvPr>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Text Placeholder 4">
            <a:extLst>
              <a:ext uri="{FF2B5EF4-FFF2-40B4-BE49-F238E27FC236}">
                <a16:creationId xmlns:a16="http://schemas.microsoft.com/office/drawing/2014/main" id="{241B786E-1BB4-4C3E-83F5-8414F7DAA6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a:extLst>
              <a:ext uri="{FF2B5EF4-FFF2-40B4-BE49-F238E27FC236}">
                <a16:creationId xmlns:a16="http://schemas.microsoft.com/office/drawing/2014/main" id="{EB488442-157F-4DCA-A51B-6BB53C433DC0}"/>
              </a:ext>
            </a:extLst>
          </p:cNvPr>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7" name="Date Placeholder 6">
            <a:extLst>
              <a:ext uri="{FF2B5EF4-FFF2-40B4-BE49-F238E27FC236}">
                <a16:creationId xmlns:a16="http://schemas.microsoft.com/office/drawing/2014/main" id="{3468275E-BC8E-48AF-BE37-2C55796B113A}"/>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8" name="Footer Placeholder 7">
            <a:extLst>
              <a:ext uri="{FF2B5EF4-FFF2-40B4-BE49-F238E27FC236}">
                <a16:creationId xmlns:a16="http://schemas.microsoft.com/office/drawing/2014/main" id="{C692A70E-8121-4EBB-86E1-4885FE260782}"/>
              </a:ext>
            </a:extLst>
          </p:cNvPr>
          <p:cNvSpPr>
            <a:spLocks noGrp="1"/>
          </p:cNvSpPr>
          <p:nvPr>
            <p:ph type="ftr" sz="quarter" idx="11"/>
          </p:nvPr>
        </p:nvSpPr>
        <p:spPr/>
        <p:txBody>
          <a:bodyPr/>
          <a:lstStyle/>
          <a:p>
            <a:endParaRPr lang="ko-KR" altLang="en-US"/>
          </a:p>
        </p:txBody>
      </p:sp>
      <p:sp>
        <p:nvSpPr>
          <p:cNvPr id="9" name="Slide Number Placeholder 8">
            <a:extLst>
              <a:ext uri="{FF2B5EF4-FFF2-40B4-BE49-F238E27FC236}">
                <a16:creationId xmlns:a16="http://schemas.microsoft.com/office/drawing/2014/main" id="{C14AAB1C-E7E6-4621-9E7B-4EAB6271A6F6}"/>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287791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3E2D-3A03-4C21-AA10-D7029FA9C1B8}"/>
              </a:ext>
            </a:extLst>
          </p:cNvPr>
          <p:cNvSpPr>
            <a:spLocks noGrp="1"/>
          </p:cNvSpPr>
          <p:nvPr>
            <p:ph type="title"/>
          </p:nvPr>
        </p:nvSpPr>
        <p:spPr/>
        <p:txBody>
          <a:bodyPr/>
          <a:lstStyle/>
          <a:p>
            <a:r>
              <a:rPr lang="en-US" altLang="ko-KR"/>
              <a:t>Click to edit Master title style</a:t>
            </a:r>
            <a:endParaRPr lang="ko-KR" altLang="en-US"/>
          </a:p>
        </p:txBody>
      </p:sp>
      <p:sp>
        <p:nvSpPr>
          <p:cNvPr id="3" name="Date Placeholder 2">
            <a:extLst>
              <a:ext uri="{FF2B5EF4-FFF2-40B4-BE49-F238E27FC236}">
                <a16:creationId xmlns:a16="http://schemas.microsoft.com/office/drawing/2014/main" id="{3EFD9CD9-7BA2-47C8-A89B-0AEB37F0B2E6}"/>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4" name="Footer Placeholder 3">
            <a:extLst>
              <a:ext uri="{FF2B5EF4-FFF2-40B4-BE49-F238E27FC236}">
                <a16:creationId xmlns:a16="http://schemas.microsoft.com/office/drawing/2014/main" id="{C7C99065-E5C5-4555-AD13-BE459FA3271C}"/>
              </a:ext>
            </a:extLst>
          </p:cNvPr>
          <p:cNvSpPr>
            <a:spLocks noGrp="1"/>
          </p:cNvSpPr>
          <p:nvPr>
            <p:ph type="ftr" sz="quarter" idx="11"/>
          </p:nvPr>
        </p:nvSpPr>
        <p:spPr/>
        <p:txBody>
          <a:bodyPr/>
          <a:lstStyle/>
          <a:p>
            <a:endParaRPr lang="ko-KR" altLang="en-US"/>
          </a:p>
        </p:txBody>
      </p:sp>
      <p:sp>
        <p:nvSpPr>
          <p:cNvPr id="5" name="Slide Number Placeholder 4">
            <a:extLst>
              <a:ext uri="{FF2B5EF4-FFF2-40B4-BE49-F238E27FC236}">
                <a16:creationId xmlns:a16="http://schemas.microsoft.com/office/drawing/2014/main" id="{4745D2F1-405D-4864-93A7-F7BD0E5A242C}"/>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3932973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7EC90-0851-4692-AAD1-4BB8D42F5AE0}"/>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3" name="Footer Placeholder 2">
            <a:extLst>
              <a:ext uri="{FF2B5EF4-FFF2-40B4-BE49-F238E27FC236}">
                <a16:creationId xmlns:a16="http://schemas.microsoft.com/office/drawing/2014/main" id="{186CF393-C2BF-4E87-B2F2-5AB5A17F873F}"/>
              </a:ext>
            </a:extLst>
          </p:cNvPr>
          <p:cNvSpPr>
            <a:spLocks noGrp="1"/>
          </p:cNvSpPr>
          <p:nvPr>
            <p:ph type="ftr" sz="quarter" idx="11"/>
          </p:nvPr>
        </p:nvSpPr>
        <p:spPr/>
        <p:txBody>
          <a:bodyPr/>
          <a:lstStyle/>
          <a:p>
            <a:endParaRPr lang="ko-KR" altLang="en-US"/>
          </a:p>
        </p:txBody>
      </p:sp>
      <p:sp>
        <p:nvSpPr>
          <p:cNvPr id="4" name="Slide Number Placeholder 3">
            <a:extLst>
              <a:ext uri="{FF2B5EF4-FFF2-40B4-BE49-F238E27FC236}">
                <a16:creationId xmlns:a16="http://schemas.microsoft.com/office/drawing/2014/main" id="{7825CFA9-0979-4CCA-BD5B-BEA5A885C6DD}"/>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1326824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A846-C287-4299-960A-7EACA0B6D239}"/>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7B9918F4-08A1-4E72-8620-2046C541B9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Text Placeholder 3">
            <a:extLst>
              <a:ext uri="{FF2B5EF4-FFF2-40B4-BE49-F238E27FC236}">
                <a16:creationId xmlns:a16="http://schemas.microsoft.com/office/drawing/2014/main" id="{6638B7A1-7F39-4AEF-93B2-5AAB2B85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422DBA7E-CBA7-407A-AD16-3F4E5CE9F1C9}"/>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6" name="Footer Placeholder 5">
            <a:extLst>
              <a:ext uri="{FF2B5EF4-FFF2-40B4-BE49-F238E27FC236}">
                <a16:creationId xmlns:a16="http://schemas.microsoft.com/office/drawing/2014/main" id="{EDE541F3-A316-4AD6-B4A9-A8E46647637D}"/>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A8B8C40E-0474-4CA1-BAFB-06F5E3D2859D}"/>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2771573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611CC-4FDC-47CA-958B-766E306031F2}"/>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Picture Placeholder 2">
            <a:extLst>
              <a:ext uri="{FF2B5EF4-FFF2-40B4-BE49-F238E27FC236}">
                <a16:creationId xmlns:a16="http://schemas.microsoft.com/office/drawing/2014/main" id="{DE709C36-CB23-4775-9001-E697FA75A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Text Placeholder 3">
            <a:extLst>
              <a:ext uri="{FF2B5EF4-FFF2-40B4-BE49-F238E27FC236}">
                <a16:creationId xmlns:a16="http://schemas.microsoft.com/office/drawing/2014/main" id="{D8D402B5-F8A9-4BBB-8AC0-9A225012DE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3572F95B-43EC-4FFF-96D6-79DF6D9E01FC}"/>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6" name="Footer Placeholder 5">
            <a:extLst>
              <a:ext uri="{FF2B5EF4-FFF2-40B4-BE49-F238E27FC236}">
                <a16:creationId xmlns:a16="http://schemas.microsoft.com/office/drawing/2014/main" id="{5EC1120E-EBE3-48D0-87A8-ABF318F99E51}"/>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F8C6F20F-984B-44DD-9730-E05C816DC200}"/>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105938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2FF00-C2A4-445D-A226-DD5EC39FDE93}"/>
              </a:ext>
            </a:extLst>
          </p:cNvPr>
          <p:cNvSpPr>
            <a:spLocks noGrp="1"/>
          </p:cNvSpPr>
          <p:nvPr>
            <p:ph type="title"/>
          </p:nvPr>
        </p:nvSpPr>
        <p:spPr/>
        <p:txBody>
          <a:bodyPr/>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9B45A8F7-8054-4534-8DA4-0E884B914789}"/>
              </a:ext>
            </a:extLst>
          </p:cNvPr>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A96A7059-EF79-42F2-9BF7-1C273EC685F9}"/>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5" name="Footer Placeholder 4">
            <a:extLst>
              <a:ext uri="{FF2B5EF4-FFF2-40B4-BE49-F238E27FC236}">
                <a16:creationId xmlns:a16="http://schemas.microsoft.com/office/drawing/2014/main" id="{8367B8EB-BE59-4686-B5E8-1811415EB75A}"/>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6A4CF08B-D8B6-4EF6-824E-7F43026BA9BC}"/>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2149794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6AFC8E-7787-47A7-AA56-1877B08A4BF9}"/>
              </a:ext>
            </a:extLst>
          </p:cNvPr>
          <p:cNvSpPr>
            <a:spLocks noGrp="1"/>
          </p:cNvSpPr>
          <p:nvPr>
            <p:ph type="title" orient="vert"/>
          </p:nvPr>
        </p:nvSpPr>
        <p:spPr>
          <a:xfrm>
            <a:off x="8724900" y="365125"/>
            <a:ext cx="2628900" cy="5811838"/>
          </a:xfrm>
        </p:spPr>
        <p:txBody>
          <a:bodyPr vert="eaVert"/>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28D8FA8F-4D96-40B7-A004-9174F27AD245}"/>
              </a:ext>
            </a:extLst>
          </p:cNvPr>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FDAB24AD-9DED-4243-9F25-FAE9CEBF0370}"/>
              </a:ext>
            </a:extLst>
          </p:cNvPr>
          <p:cNvSpPr>
            <a:spLocks noGrp="1"/>
          </p:cNvSpPr>
          <p:nvPr>
            <p:ph type="dt" sz="half" idx="10"/>
          </p:nvPr>
        </p:nvSpPr>
        <p:spPr/>
        <p:txBody>
          <a:bodyPr/>
          <a:lstStyle/>
          <a:p>
            <a:fld id="{376BDB46-8C06-48D3-BD46-B1E0990EF745}" type="datetimeFigureOut">
              <a:rPr lang="ko-KR" altLang="en-US" smtClean="0"/>
              <a:t>2026-10-06</a:t>
            </a:fld>
            <a:endParaRPr lang="ko-KR" altLang="en-US"/>
          </a:p>
        </p:txBody>
      </p:sp>
      <p:sp>
        <p:nvSpPr>
          <p:cNvPr id="5" name="Footer Placeholder 4">
            <a:extLst>
              <a:ext uri="{FF2B5EF4-FFF2-40B4-BE49-F238E27FC236}">
                <a16:creationId xmlns:a16="http://schemas.microsoft.com/office/drawing/2014/main" id="{2D95F186-8C0D-4AE9-8A3A-4C4D55267DF2}"/>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5154BCB7-D53C-46F0-90E6-1C49112C5C7E}"/>
              </a:ext>
            </a:extLst>
          </p:cNvPr>
          <p:cNvSpPr>
            <a:spLocks noGrp="1"/>
          </p:cNvSpPr>
          <p:nvPr>
            <p:ph type="sldNum" sz="quarter" idx="12"/>
          </p:nvPr>
        </p:nvSpPr>
        <p:spPr/>
        <p:txBody>
          <a:body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2196758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D40051-2D1D-4FD2-9D2E-91836858DC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D0B58B50-8A88-427C-A6B2-DF476E71D0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604F046B-CA76-41E3-BF62-480204A4EF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6BDB46-8C06-48D3-BD46-B1E0990EF745}" type="datetimeFigureOut">
              <a:rPr lang="ko-KR" altLang="en-US" smtClean="0"/>
              <a:t>2026-10-06</a:t>
            </a:fld>
            <a:endParaRPr lang="ko-KR" altLang="en-US"/>
          </a:p>
        </p:txBody>
      </p:sp>
      <p:sp>
        <p:nvSpPr>
          <p:cNvPr id="5" name="Footer Placeholder 4">
            <a:extLst>
              <a:ext uri="{FF2B5EF4-FFF2-40B4-BE49-F238E27FC236}">
                <a16:creationId xmlns:a16="http://schemas.microsoft.com/office/drawing/2014/main" id="{6F48C4CB-141F-4113-8E53-8B0C17BEA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a:extLst>
              <a:ext uri="{FF2B5EF4-FFF2-40B4-BE49-F238E27FC236}">
                <a16:creationId xmlns:a16="http://schemas.microsoft.com/office/drawing/2014/main" id="{68A18AB8-85BA-47FA-A5A0-5942C4045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181EBA-D3A5-4E74-8B25-1E20D2B9BD6D}" type="slidenum">
              <a:rPr lang="ko-KR" altLang="en-US" smtClean="0"/>
              <a:t>‹#›</a:t>
            </a:fld>
            <a:endParaRPr lang="ko-KR" altLang="en-US"/>
          </a:p>
        </p:txBody>
      </p:sp>
    </p:spTree>
    <p:extLst>
      <p:ext uri="{BB962C8B-B14F-4D97-AF65-F5344CB8AC3E}">
        <p14:creationId xmlns:p14="http://schemas.microsoft.com/office/powerpoint/2010/main" val="2108771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1.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2DC6-E64F-4EDF-9E0B-ACEAAD23345D}"/>
              </a:ext>
            </a:extLst>
          </p:cNvPr>
          <p:cNvSpPr>
            <a:spLocks noGrp="1"/>
          </p:cNvSpPr>
          <p:nvPr>
            <p:ph type="ctrTitle"/>
          </p:nvPr>
        </p:nvSpPr>
        <p:spPr/>
        <p:txBody>
          <a:bodyPr/>
          <a:lstStyle/>
          <a:p>
            <a:r>
              <a:rPr lang="ko-KR" altLang="en-US" dirty="0"/>
              <a:t>커리어 메모리</a:t>
            </a:r>
          </a:p>
        </p:txBody>
      </p:sp>
      <p:sp>
        <p:nvSpPr>
          <p:cNvPr id="3" name="Subtitle 2">
            <a:extLst>
              <a:ext uri="{FF2B5EF4-FFF2-40B4-BE49-F238E27FC236}">
                <a16:creationId xmlns:a16="http://schemas.microsoft.com/office/drawing/2014/main" id="{9CCDB7F4-F235-4582-9E89-7D14D1A6F6F0}"/>
              </a:ext>
            </a:extLst>
          </p:cNvPr>
          <p:cNvSpPr>
            <a:spLocks noGrp="1"/>
          </p:cNvSpPr>
          <p:nvPr>
            <p:ph type="subTitle" idx="1"/>
          </p:nvPr>
        </p:nvSpPr>
        <p:spPr/>
        <p:txBody>
          <a:bodyPr/>
          <a:lstStyle/>
          <a:p>
            <a:r>
              <a:rPr lang="ko-KR" altLang="en-US" dirty="0"/>
              <a:t>개선 고도하</a:t>
            </a:r>
          </a:p>
        </p:txBody>
      </p:sp>
    </p:spTree>
    <p:extLst>
      <p:ext uri="{BB962C8B-B14F-4D97-AF65-F5344CB8AC3E}">
        <p14:creationId xmlns:p14="http://schemas.microsoft.com/office/powerpoint/2010/main" val="3929016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C59E71-7062-4016-B3D4-05E78AF48312}"/>
              </a:ext>
            </a:extLst>
          </p:cNvPr>
          <p:cNvPicPr>
            <a:picLocks noChangeAspect="1"/>
          </p:cNvPicPr>
          <p:nvPr/>
        </p:nvPicPr>
        <p:blipFill rotWithShape="1">
          <a:blip r:embed="rId2"/>
          <a:srcRect l="12179" t="-263" r="19143"/>
          <a:stretch/>
        </p:blipFill>
        <p:spPr>
          <a:xfrm>
            <a:off x="486157" y="2062704"/>
            <a:ext cx="5367797" cy="3850432"/>
          </a:xfrm>
          <a:prstGeom prst="rect">
            <a:avLst/>
          </a:prstGeom>
        </p:spPr>
      </p:pic>
      <p:sp>
        <p:nvSpPr>
          <p:cNvPr id="6" name="TextBox 5">
            <a:extLst>
              <a:ext uri="{FF2B5EF4-FFF2-40B4-BE49-F238E27FC236}">
                <a16:creationId xmlns:a16="http://schemas.microsoft.com/office/drawing/2014/main" id="{E401D451-3814-4DAE-9FD6-B549AABAD59D}"/>
              </a:ext>
            </a:extLst>
          </p:cNvPr>
          <p:cNvSpPr txBox="1"/>
          <p:nvPr/>
        </p:nvSpPr>
        <p:spPr>
          <a:xfrm>
            <a:off x="270933" y="262467"/>
            <a:ext cx="1133644" cy="369332"/>
          </a:xfrm>
          <a:prstGeom prst="rect">
            <a:avLst/>
          </a:prstGeom>
          <a:noFill/>
        </p:spPr>
        <p:txBody>
          <a:bodyPr wrap="none" rtlCol="0">
            <a:spAutoFit/>
          </a:bodyPr>
          <a:lstStyle/>
          <a:p>
            <a:r>
              <a:rPr lang="en-US" altLang="ko-KR" dirty="0"/>
              <a:t>26-10-06</a:t>
            </a:r>
            <a:endParaRPr lang="ko-KR" altLang="en-US" dirty="0"/>
          </a:p>
        </p:txBody>
      </p:sp>
      <p:sp>
        <p:nvSpPr>
          <p:cNvPr id="14" name="TextBox 13">
            <a:extLst>
              <a:ext uri="{FF2B5EF4-FFF2-40B4-BE49-F238E27FC236}">
                <a16:creationId xmlns:a16="http://schemas.microsoft.com/office/drawing/2014/main" id="{FEF429D1-6F0D-4A94-80B9-5BE0580C43AC}"/>
              </a:ext>
            </a:extLst>
          </p:cNvPr>
          <p:cNvSpPr txBox="1"/>
          <p:nvPr/>
        </p:nvSpPr>
        <p:spPr>
          <a:xfrm>
            <a:off x="1404577" y="262467"/>
            <a:ext cx="10423356" cy="1015663"/>
          </a:xfrm>
          <a:prstGeom prst="rect">
            <a:avLst/>
          </a:prstGeom>
          <a:noFill/>
        </p:spPr>
        <p:txBody>
          <a:bodyPr wrap="square">
            <a:spAutoFit/>
          </a:bodyPr>
          <a:lstStyle/>
          <a:p>
            <a:r>
              <a:rPr lang="en-US" altLang="ko-KR" sz="1000" dirty="0"/>
              <a:t>v2-conversation__scroll </a:t>
            </a:r>
            <a:r>
              <a:rPr lang="ko-KR" altLang="en-US" sz="1000" dirty="0"/>
              <a:t>영역 우측에 대화 내역의 카테고리 끼뿐으로 분류되는 스크롤 바 추가해줘</a:t>
            </a:r>
            <a:r>
              <a:rPr lang="en-US" altLang="ko-KR" sz="1000" dirty="0"/>
              <a:t>! </a:t>
            </a:r>
            <a:r>
              <a:rPr lang="ko-KR" altLang="en-US" sz="1000" dirty="0"/>
              <a:t>그 스크롤바에 마우스 올리면 해당 부분이 어떤 내용인지 알 수있도록 대화내용의 앞 부분이 살짝 보이고 </a:t>
            </a:r>
            <a:r>
              <a:rPr lang="en-US" altLang="ko-KR" sz="1000" dirty="0"/>
              <a:t>... </a:t>
            </a:r>
            <a:r>
              <a:rPr lang="ko-KR" altLang="en-US" sz="1000" dirty="0"/>
              <a:t>이런식으로 되도록 하면 좋을 것 같아</a:t>
            </a:r>
            <a:r>
              <a:rPr lang="en-US" altLang="ko-KR" sz="1000" dirty="0"/>
              <a:t>. </a:t>
            </a:r>
            <a:r>
              <a:rPr lang="ko-KR" altLang="en-US" sz="1000" dirty="0"/>
              <a:t>챗 </a:t>
            </a:r>
            <a:r>
              <a:rPr lang="en-US" altLang="ko-KR" sz="1000" dirty="0"/>
              <a:t>GPT</a:t>
            </a:r>
            <a:r>
              <a:rPr lang="ko-KR" altLang="en-US" sz="1000" dirty="0"/>
              <a:t>에서도 대화내용이 길어지면 스크롤할 양이 많아지고</a:t>
            </a:r>
            <a:r>
              <a:rPr lang="en-US" altLang="ko-KR" sz="1000" dirty="0"/>
              <a:t>, </a:t>
            </a:r>
            <a:r>
              <a:rPr lang="ko-KR" altLang="en-US" sz="1000" dirty="0"/>
              <a:t>그러면 사용자가 원하는 내용을 찾기 어려우니까 그런 가이드 역할을 해주는 누르면 바로 이동되는 스크롤바가 생기더라</a:t>
            </a:r>
            <a:r>
              <a:rPr lang="en-US" altLang="ko-KR" sz="1000" dirty="0"/>
              <a:t>! </a:t>
            </a:r>
            <a:r>
              <a:rPr lang="ko-KR" altLang="en-US" sz="1000" dirty="0"/>
              <a:t>그거 참고하면 어떤걸 내가 요구하는지 알 수 있을 거야</a:t>
            </a:r>
            <a:r>
              <a:rPr lang="en-US" altLang="ko-KR" sz="1000" dirty="0"/>
              <a:t>! </a:t>
            </a:r>
            <a:r>
              <a:rPr lang="ko-KR" altLang="en-US" sz="1000" dirty="0"/>
              <a:t>이해 제대로 했는지 나에게 먼저 설명해줘</a:t>
            </a:r>
            <a:r>
              <a:rPr lang="en-US" altLang="ko-KR" sz="1000" dirty="0"/>
              <a:t>.</a:t>
            </a:r>
          </a:p>
          <a:p>
            <a:endParaRPr lang="en-US" altLang="ko-KR" sz="1000" dirty="0"/>
          </a:p>
          <a:p>
            <a:r>
              <a:rPr lang="en-US" altLang="ko-KR" sz="1000" dirty="0"/>
              <a:t>[</a:t>
            </a:r>
            <a:r>
              <a:rPr lang="ko-KR" altLang="en-US" sz="1000" dirty="0"/>
              <a:t>경험 정리</a:t>
            </a:r>
            <a:r>
              <a:rPr lang="en-US" altLang="ko-KR" sz="1000" dirty="0"/>
              <a:t>] [</a:t>
            </a:r>
            <a:r>
              <a:rPr lang="ko-KR" altLang="en-US" sz="1000" dirty="0"/>
              <a:t>채용공고 분석</a:t>
            </a:r>
            <a:r>
              <a:rPr lang="en-US" altLang="ko-KR" sz="1000" dirty="0"/>
              <a:t>] [</a:t>
            </a:r>
            <a:r>
              <a:rPr lang="ko-KR" altLang="en-US" sz="1000" dirty="0"/>
              <a:t>문서 피드백</a:t>
            </a:r>
            <a:r>
              <a:rPr lang="en-US" altLang="ko-KR" sz="1000" dirty="0"/>
              <a:t>] [</a:t>
            </a:r>
            <a:r>
              <a:rPr lang="ko-KR" altLang="en-US" sz="1000" dirty="0"/>
              <a:t>면접 준비</a:t>
            </a:r>
            <a:r>
              <a:rPr lang="en-US" altLang="ko-KR" sz="1000" dirty="0"/>
              <a:t>] </a:t>
            </a:r>
            <a:r>
              <a:rPr lang="ko-KR" altLang="en-US" sz="1000" dirty="0"/>
              <a:t>버튼들 누르면 관련 문구가 채팅 입력창에 추가되는 형식인데</a:t>
            </a:r>
            <a:r>
              <a:rPr lang="en-US" altLang="ko-KR" sz="1000" dirty="0"/>
              <a:t>, </a:t>
            </a:r>
            <a:r>
              <a:rPr lang="ko-KR" altLang="en-US" sz="1000" dirty="0"/>
              <a:t>이렇게 하지 말고 채팅입력창 위에 좌측에 어떤 질문 모드인지 나오게 하는 게 좋을 거 간아 어떤 거 같아</a:t>
            </a:r>
            <a:r>
              <a:rPr lang="en-US" altLang="ko-KR" sz="1000" dirty="0"/>
              <a:t>? </a:t>
            </a:r>
          </a:p>
        </p:txBody>
      </p:sp>
      <p:pic>
        <p:nvPicPr>
          <p:cNvPr id="17" name="Picture 16">
            <a:extLst>
              <a:ext uri="{FF2B5EF4-FFF2-40B4-BE49-F238E27FC236}">
                <a16:creationId xmlns:a16="http://schemas.microsoft.com/office/drawing/2014/main" id="{9F194566-E07A-4AD9-86A7-D3A2802EB5C4}"/>
              </a:ext>
            </a:extLst>
          </p:cNvPr>
          <p:cNvPicPr>
            <a:picLocks noChangeAspect="1"/>
          </p:cNvPicPr>
          <p:nvPr/>
        </p:nvPicPr>
        <p:blipFill>
          <a:blip r:embed="rId3"/>
          <a:stretch>
            <a:fillRect/>
          </a:stretch>
        </p:blipFill>
        <p:spPr>
          <a:xfrm>
            <a:off x="6616255" y="1985282"/>
            <a:ext cx="5184357" cy="4005276"/>
          </a:xfrm>
          <a:prstGeom prst="rect">
            <a:avLst/>
          </a:prstGeom>
        </p:spPr>
      </p:pic>
    </p:spTree>
    <p:extLst>
      <p:ext uri="{BB962C8B-B14F-4D97-AF65-F5344CB8AC3E}">
        <p14:creationId xmlns:p14="http://schemas.microsoft.com/office/powerpoint/2010/main" val="104988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FC9295-6E65-4D22-B40C-4D7B863686BF}"/>
              </a:ext>
            </a:extLst>
          </p:cNvPr>
          <p:cNvPicPr>
            <a:picLocks noChangeAspect="1"/>
          </p:cNvPicPr>
          <p:nvPr/>
        </p:nvPicPr>
        <p:blipFill>
          <a:blip r:embed="rId2"/>
          <a:stretch>
            <a:fillRect/>
          </a:stretch>
        </p:blipFill>
        <p:spPr>
          <a:xfrm>
            <a:off x="472248" y="1035170"/>
            <a:ext cx="7273258" cy="4923868"/>
          </a:xfrm>
          <a:prstGeom prst="rect">
            <a:avLst/>
          </a:prstGeom>
        </p:spPr>
      </p:pic>
      <p:sp>
        <p:nvSpPr>
          <p:cNvPr id="5" name="TextBox 4">
            <a:extLst>
              <a:ext uri="{FF2B5EF4-FFF2-40B4-BE49-F238E27FC236}">
                <a16:creationId xmlns:a16="http://schemas.microsoft.com/office/drawing/2014/main" id="{4314258A-E2A4-4A87-9C56-D5FF8E84C2DA}"/>
              </a:ext>
            </a:extLst>
          </p:cNvPr>
          <p:cNvSpPr txBox="1"/>
          <p:nvPr/>
        </p:nvSpPr>
        <p:spPr>
          <a:xfrm>
            <a:off x="270933" y="262467"/>
            <a:ext cx="1133644" cy="369332"/>
          </a:xfrm>
          <a:prstGeom prst="rect">
            <a:avLst/>
          </a:prstGeom>
          <a:noFill/>
        </p:spPr>
        <p:txBody>
          <a:bodyPr wrap="none" rtlCol="0">
            <a:spAutoFit/>
          </a:bodyPr>
          <a:lstStyle/>
          <a:p>
            <a:r>
              <a:rPr lang="en-US" altLang="ko-KR" dirty="0"/>
              <a:t>26-10-06</a:t>
            </a:r>
            <a:endParaRPr lang="ko-KR" altLang="en-US" dirty="0"/>
          </a:p>
        </p:txBody>
      </p:sp>
      <p:sp>
        <p:nvSpPr>
          <p:cNvPr id="6" name="TextBox 5">
            <a:extLst>
              <a:ext uri="{FF2B5EF4-FFF2-40B4-BE49-F238E27FC236}">
                <a16:creationId xmlns:a16="http://schemas.microsoft.com/office/drawing/2014/main" id="{BDFF12B1-9510-4592-8454-D5E2D25B8D42}"/>
              </a:ext>
            </a:extLst>
          </p:cNvPr>
          <p:cNvSpPr txBox="1"/>
          <p:nvPr/>
        </p:nvSpPr>
        <p:spPr>
          <a:xfrm>
            <a:off x="1497711" y="262467"/>
            <a:ext cx="10423356" cy="400110"/>
          </a:xfrm>
          <a:prstGeom prst="rect">
            <a:avLst/>
          </a:prstGeom>
          <a:noFill/>
        </p:spPr>
        <p:txBody>
          <a:bodyPr wrap="square">
            <a:spAutoFit/>
          </a:bodyPr>
          <a:lstStyle/>
          <a:p>
            <a:r>
              <a:rPr lang="ko-KR" altLang="en-US" sz="1000" dirty="0"/>
              <a:t>기존에는 랭체인으로 채팅</a:t>
            </a:r>
            <a:r>
              <a:rPr lang="en-US" altLang="ko-KR" sz="1000" dirty="0"/>
              <a:t>+</a:t>
            </a:r>
            <a:r>
              <a:rPr lang="ko-KR" altLang="en-US" sz="1000" dirty="0"/>
              <a:t>경험 분석 단독 펑션콜</a:t>
            </a:r>
            <a:endParaRPr lang="en-US" altLang="ko-KR" sz="1000" dirty="0"/>
          </a:p>
          <a:p>
            <a:r>
              <a:rPr lang="ko-KR" altLang="en-US" sz="1000" dirty="0"/>
              <a:t>현재</a:t>
            </a:r>
            <a:r>
              <a:rPr lang="en-US" altLang="ko-KR" sz="1000" dirty="0"/>
              <a:t> </a:t>
            </a:r>
            <a:r>
              <a:rPr lang="ko-KR" altLang="en-US" sz="1000" dirty="0"/>
              <a:t>랭그래프 활용 </a:t>
            </a:r>
            <a:r>
              <a:rPr lang="en-US" altLang="ko-KR" sz="1000" dirty="0">
                <a:sym typeface="Wingdings" panose="05000000000000000000" pitchFamily="2" charset="2"/>
              </a:rPr>
              <a:t></a:t>
            </a:r>
            <a:r>
              <a:rPr lang="en-US" altLang="ko-KR" sz="1000" dirty="0"/>
              <a:t> </a:t>
            </a:r>
            <a:r>
              <a:rPr lang="ko-KR" altLang="en-US" sz="1000" dirty="0"/>
              <a:t>채팅창</a:t>
            </a:r>
            <a:r>
              <a:rPr lang="en-US" altLang="ko-KR" sz="1000" dirty="0"/>
              <a:t>(</a:t>
            </a:r>
            <a:r>
              <a:rPr lang="ko-KR" altLang="en-US" sz="1000" dirty="0"/>
              <a:t>챗봇</a:t>
            </a:r>
            <a:r>
              <a:rPr lang="en-US" altLang="ko-KR" sz="1000" dirty="0"/>
              <a:t>) </a:t>
            </a:r>
            <a:r>
              <a:rPr lang="ko-KR" altLang="en-US" sz="1000" dirty="0"/>
              <a:t>연동한 랭그래프 흐름 </a:t>
            </a:r>
            <a:r>
              <a:rPr lang="en-US" altLang="ko-KR" sz="1000" dirty="0"/>
              <a:t>: </a:t>
            </a:r>
            <a:r>
              <a:rPr lang="ko-KR" altLang="en-US" sz="1000" dirty="0"/>
              <a:t>공고 분석 우선</a:t>
            </a:r>
            <a:r>
              <a:rPr lang="en-US" altLang="ko-KR" sz="1000" dirty="0"/>
              <a:t>, </a:t>
            </a:r>
            <a:r>
              <a:rPr lang="ko-KR" altLang="en-US" sz="1000" dirty="0"/>
              <a:t>그 후 경험정보 정리</a:t>
            </a:r>
            <a:endParaRPr lang="en-US" altLang="ko-KR" sz="1000" dirty="0"/>
          </a:p>
        </p:txBody>
      </p:sp>
    </p:spTree>
    <p:extLst>
      <p:ext uri="{BB962C8B-B14F-4D97-AF65-F5344CB8AC3E}">
        <p14:creationId xmlns:p14="http://schemas.microsoft.com/office/powerpoint/2010/main" val="2706326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1361E22B-13D8-4B67-A8A1-294B28774411}"/>
              </a:ext>
            </a:extLst>
          </p:cNvPr>
          <p:cNvGraphicFramePr>
            <a:graphicFrameLocks noGrp="1"/>
          </p:cNvGraphicFramePr>
          <p:nvPr>
            <p:extLst>
              <p:ext uri="{D42A27DB-BD31-4B8C-83A1-F6EECF244321}">
                <p14:modId xmlns:p14="http://schemas.microsoft.com/office/powerpoint/2010/main" val="3635163146"/>
              </p:ext>
            </p:extLst>
          </p:nvPr>
        </p:nvGraphicFramePr>
        <p:xfrm>
          <a:off x="264545" y="949977"/>
          <a:ext cx="2567214" cy="975360"/>
        </p:xfrm>
        <a:graphic>
          <a:graphicData uri="http://schemas.openxmlformats.org/drawingml/2006/table">
            <a:tbl>
              <a:tblPr/>
              <a:tblGrid>
                <a:gridCol w="855738">
                  <a:extLst>
                    <a:ext uri="{9D8B030D-6E8A-4147-A177-3AD203B41FA5}">
                      <a16:colId xmlns:a16="http://schemas.microsoft.com/office/drawing/2014/main" val="3580183856"/>
                    </a:ext>
                  </a:extLst>
                </a:gridCol>
                <a:gridCol w="626747">
                  <a:extLst>
                    <a:ext uri="{9D8B030D-6E8A-4147-A177-3AD203B41FA5}">
                      <a16:colId xmlns:a16="http://schemas.microsoft.com/office/drawing/2014/main" val="58141576"/>
                    </a:ext>
                  </a:extLst>
                </a:gridCol>
                <a:gridCol w="1084729">
                  <a:extLst>
                    <a:ext uri="{9D8B030D-6E8A-4147-A177-3AD203B41FA5}">
                      <a16:colId xmlns:a16="http://schemas.microsoft.com/office/drawing/2014/main" val="365966808"/>
                    </a:ext>
                  </a:extLst>
                </a:gridCol>
              </a:tblGrid>
              <a:tr h="159710">
                <a:tc>
                  <a:txBody>
                    <a:bodyPr/>
                    <a:lstStyle/>
                    <a:p>
                      <a:r>
                        <a:rPr lang="ko-KR" altLang="en-US" sz="1000"/>
                        <a:t>분석 단계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호출 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추정 입력 토큰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3526567"/>
                  </a:ext>
                </a:extLst>
              </a:tr>
              <a:tr h="159710">
                <a:tc>
                  <a:txBody>
                    <a:bodyPr/>
                    <a:lstStyle/>
                    <a:p>
                      <a:r>
                        <a:rPr lang="ko-KR" altLang="en-US" sz="1000"/>
                        <a:t>공고 탐색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dirty="0"/>
                        <a:t>5</a:t>
                      </a:r>
                      <a:r>
                        <a:rPr lang="ko-KR" altLang="en-US" sz="1000" dirty="0"/>
                        <a:t>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3,639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1039866"/>
                  </a:ext>
                </a:extLst>
              </a:tr>
              <a:tr h="159710">
                <a:tc>
                  <a:txBody>
                    <a:bodyPr/>
                    <a:lstStyle/>
                    <a:p>
                      <a:r>
                        <a:rPr lang="ko-KR" altLang="en-US" sz="1000"/>
                        <a:t>경험 분석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1</a:t>
                      </a:r>
                      <a:r>
                        <a:rPr lang="ko-KR" altLang="en-US" sz="1000"/>
                        <a:t>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dirty="0"/>
                        <a:t>4,797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4825462"/>
                  </a:ext>
                </a:extLst>
              </a:tr>
              <a:tr h="159710">
                <a:tc>
                  <a:txBody>
                    <a:bodyPr/>
                    <a:lstStyle/>
                    <a:p>
                      <a:r>
                        <a:rPr lang="ko-KR" altLang="en-US" sz="1000"/>
                        <a:t>합계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6</a:t>
                      </a:r>
                      <a:r>
                        <a:rPr lang="ko-KR" altLang="en-US" sz="1000" b="1"/>
                        <a:t>회</a:t>
                      </a:r>
                      <a:endParaRPr lang="ko-KR" altLang="en-US" sz="1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dirty="0"/>
                        <a:t>8,436</a:t>
                      </a:r>
                      <a:endParaRPr lang="ko-KR" altLang="en-US"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5478431"/>
                  </a:ext>
                </a:extLst>
              </a:tr>
            </a:tbl>
          </a:graphicData>
        </a:graphic>
      </p:graphicFrame>
      <p:sp>
        <p:nvSpPr>
          <p:cNvPr id="15" name="TextBox 14">
            <a:extLst>
              <a:ext uri="{FF2B5EF4-FFF2-40B4-BE49-F238E27FC236}">
                <a16:creationId xmlns:a16="http://schemas.microsoft.com/office/drawing/2014/main" id="{F9CD75D7-0F7B-427E-BEE6-890EFDFAF08E}"/>
              </a:ext>
            </a:extLst>
          </p:cNvPr>
          <p:cNvSpPr txBox="1"/>
          <p:nvPr/>
        </p:nvSpPr>
        <p:spPr>
          <a:xfrm>
            <a:off x="627528" y="4348764"/>
            <a:ext cx="4021364" cy="2246769"/>
          </a:xfrm>
          <a:prstGeom prst="rect">
            <a:avLst/>
          </a:prstGeom>
          <a:noFill/>
        </p:spPr>
        <p:txBody>
          <a:bodyPr wrap="square">
            <a:spAutoFit/>
          </a:bodyPr>
          <a:lstStyle/>
          <a:p>
            <a:r>
              <a:rPr lang="en-US" altLang="ko-KR" sz="1000" dirty="0"/>
              <a:t>Old</a:t>
            </a:r>
          </a:p>
          <a:p>
            <a:r>
              <a:rPr lang="ko-KR" altLang="en-US" sz="1000" dirty="0"/>
              <a:t>공고 탐색이 5회인 이유는 메시지를 최대 8개씩 묶기 때문입니다. 현재 메시지가 38개라 8 + 8 + 8 + 8 + 6으로 나뉩니다. 각 호출마다 시스템 프롬프트와 Function Calling 스키마가 반복</a:t>
            </a:r>
            <a:endParaRPr lang="en-US" altLang="ko-KR" sz="1000" dirty="0"/>
          </a:p>
          <a:p>
            <a:endParaRPr lang="en-US" altLang="ko-KR" sz="1000" dirty="0"/>
          </a:p>
          <a:p>
            <a:r>
              <a:rPr lang="ko-KR" altLang="en-US" sz="1000" dirty="0"/>
              <a:t>핵심 수치</a:t>
            </a:r>
            <a:r>
              <a:rPr lang="en-US" altLang="ko-KR" sz="1000" dirty="0"/>
              <a:t>:</a:t>
            </a:r>
          </a:p>
          <a:p>
            <a:pPr>
              <a:buFont typeface="Arial" panose="020B0604020202020204" pitchFamily="34" charset="0"/>
              <a:buChar char="•"/>
            </a:pPr>
            <a:r>
              <a:rPr lang="ko-KR" altLang="en-US" sz="1000" dirty="0"/>
              <a:t>실제 사용자 원문</a:t>
            </a:r>
            <a:r>
              <a:rPr lang="en-US" altLang="ko-KR" sz="1000" dirty="0"/>
              <a:t>: </a:t>
            </a:r>
            <a:r>
              <a:rPr lang="en-US" altLang="ko-KR" sz="1000" b="1" dirty="0"/>
              <a:t>405</a:t>
            </a:r>
            <a:r>
              <a:rPr lang="ko-KR" altLang="en-US" sz="1000" b="1" dirty="0"/>
              <a:t>토큰</a:t>
            </a:r>
            <a:endParaRPr lang="ko-KR" altLang="en-US" sz="1000" dirty="0"/>
          </a:p>
          <a:p>
            <a:pPr>
              <a:buFont typeface="Arial" panose="020B0604020202020204" pitchFamily="34" charset="0"/>
              <a:buChar char="•"/>
            </a:pPr>
            <a:r>
              <a:rPr lang="ko-KR" altLang="en-US" sz="1000" dirty="0"/>
              <a:t>전체 분석 입력</a:t>
            </a:r>
            <a:r>
              <a:rPr lang="en-US" altLang="ko-KR" sz="1000" dirty="0"/>
              <a:t>: </a:t>
            </a:r>
            <a:r>
              <a:rPr lang="en-US" altLang="ko-KR" sz="1000" b="1" dirty="0"/>
              <a:t>8,436</a:t>
            </a:r>
            <a:r>
              <a:rPr lang="ko-KR" altLang="en-US" sz="1000" b="1" dirty="0"/>
              <a:t>토큰</a:t>
            </a:r>
            <a:endParaRPr lang="ko-KR" altLang="en-US" sz="1000" dirty="0"/>
          </a:p>
          <a:p>
            <a:pPr>
              <a:buFont typeface="Arial" panose="020B0604020202020204" pitchFamily="34" charset="0"/>
              <a:buChar char="•"/>
            </a:pPr>
            <a:r>
              <a:rPr lang="ko-KR" altLang="en-US" sz="1000" dirty="0"/>
              <a:t>토큰 증폭률</a:t>
            </a:r>
            <a:r>
              <a:rPr lang="en-US" altLang="ko-KR" sz="1000" dirty="0"/>
              <a:t>: </a:t>
            </a:r>
            <a:r>
              <a:rPr lang="en-US" altLang="ko-KR" sz="1000" b="1" dirty="0"/>
              <a:t>20.8</a:t>
            </a:r>
            <a:r>
              <a:rPr lang="ko-KR" altLang="en-US" sz="1000" b="1" dirty="0"/>
              <a:t>배</a:t>
            </a:r>
            <a:endParaRPr lang="ko-KR" altLang="en-US" sz="1000" dirty="0"/>
          </a:p>
          <a:p>
            <a:pPr>
              <a:buFont typeface="Arial" panose="020B0604020202020204" pitchFamily="34" charset="0"/>
              <a:buChar char="•"/>
            </a:pPr>
            <a:r>
              <a:rPr lang="ko-KR" altLang="en-US" sz="1000" dirty="0"/>
              <a:t>전체 입력 중 고유 사용자 원문 비율</a:t>
            </a:r>
            <a:r>
              <a:rPr lang="en-US" altLang="ko-KR" sz="1000" dirty="0"/>
              <a:t>: </a:t>
            </a:r>
            <a:r>
              <a:rPr lang="ko-KR" altLang="en-US" sz="1000" b="1" dirty="0"/>
              <a:t>약 </a:t>
            </a:r>
            <a:r>
              <a:rPr lang="en-US" altLang="ko-KR" sz="1000" b="1" dirty="0"/>
              <a:t>4.8%</a:t>
            </a:r>
          </a:p>
          <a:p>
            <a:pPr>
              <a:buFont typeface="Arial" panose="020B0604020202020204" pitchFamily="34" charset="0"/>
              <a:buChar char="•"/>
            </a:pPr>
            <a:endParaRPr lang="en-US" altLang="ko-KR" sz="1000" b="1" dirty="0"/>
          </a:p>
          <a:p>
            <a:r>
              <a:rPr lang="ko-KR" altLang="en-US" sz="1000" dirty="0"/>
              <a:t>현재 구조는 </a:t>
            </a:r>
            <a:r>
              <a:rPr lang="ko-KR" altLang="en-US" sz="1000" b="1" dirty="0"/>
              <a:t>사용자 원문 자체는 잘 보존</a:t>
            </a:r>
            <a:r>
              <a:rPr lang="ko-KR" altLang="en-US" sz="1000" dirty="0"/>
              <a:t>합니다</a:t>
            </a:r>
            <a:r>
              <a:rPr lang="en-US" altLang="ko-KR" sz="1000" dirty="0"/>
              <a:t>. </a:t>
            </a:r>
            <a:r>
              <a:rPr lang="ko-KR" altLang="en-US" sz="1000" dirty="0"/>
              <a:t>그러나 짧은 사용자 메시지 </a:t>
            </a:r>
            <a:r>
              <a:rPr lang="en-US" altLang="ko-KR" sz="1000" dirty="0"/>
              <a:t>26</a:t>
            </a:r>
            <a:r>
              <a:rPr lang="ko-KR" altLang="en-US" sz="1000" dirty="0"/>
              <a:t>개 모두 앞에 </a:t>
            </a:r>
            <a:r>
              <a:rPr lang="en-US" altLang="ko-KR" sz="1000" dirty="0"/>
              <a:t>AI </a:t>
            </a:r>
            <a:r>
              <a:rPr lang="ko-KR" altLang="en-US" sz="1000" dirty="0"/>
              <a:t>답변이 있기 때문에 다음과 같은 문맥 손실 위험</a:t>
            </a:r>
          </a:p>
        </p:txBody>
      </p:sp>
      <p:graphicFrame>
        <p:nvGraphicFramePr>
          <p:cNvPr id="16" name="Table 15">
            <a:extLst>
              <a:ext uri="{FF2B5EF4-FFF2-40B4-BE49-F238E27FC236}">
                <a16:creationId xmlns:a16="http://schemas.microsoft.com/office/drawing/2014/main" id="{3CC00825-3B96-4E14-B019-AB04F22971CC}"/>
              </a:ext>
            </a:extLst>
          </p:cNvPr>
          <p:cNvGraphicFramePr>
            <a:graphicFrameLocks noGrp="1"/>
          </p:cNvGraphicFramePr>
          <p:nvPr>
            <p:extLst>
              <p:ext uri="{D42A27DB-BD31-4B8C-83A1-F6EECF244321}">
                <p14:modId xmlns:p14="http://schemas.microsoft.com/office/powerpoint/2010/main" val="239345208"/>
              </p:ext>
            </p:extLst>
          </p:nvPr>
        </p:nvGraphicFramePr>
        <p:xfrm>
          <a:off x="264545" y="2010367"/>
          <a:ext cx="5071629" cy="1920240"/>
        </p:xfrm>
        <a:graphic>
          <a:graphicData uri="http://schemas.openxmlformats.org/drawingml/2006/table">
            <a:tbl>
              <a:tblPr/>
              <a:tblGrid>
                <a:gridCol w="1690543">
                  <a:extLst>
                    <a:ext uri="{9D8B030D-6E8A-4147-A177-3AD203B41FA5}">
                      <a16:colId xmlns:a16="http://schemas.microsoft.com/office/drawing/2014/main" val="2002768681"/>
                    </a:ext>
                  </a:extLst>
                </a:gridCol>
                <a:gridCol w="797163">
                  <a:extLst>
                    <a:ext uri="{9D8B030D-6E8A-4147-A177-3AD203B41FA5}">
                      <a16:colId xmlns:a16="http://schemas.microsoft.com/office/drawing/2014/main" val="343516768"/>
                    </a:ext>
                  </a:extLst>
                </a:gridCol>
                <a:gridCol w="2583923">
                  <a:extLst>
                    <a:ext uri="{9D8B030D-6E8A-4147-A177-3AD203B41FA5}">
                      <a16:colId xmlns:a16="http://schemas.microsoft.com/office/drawing/2014/main" val="2561091843"/>
                    </a:ext>
                  </a:extLst>
                </a:gridCol>
              </a:tblGrid>
              <a:tr h="0">
                <a:tc>
                  <a:txBody>
                    <a:bodyPr/>
                    <a:lstStyle/>
                    <a:p>
                      <a:r>
                        <a:rPr lang="ko-KR" altLang="en-US" sz="1000"/>
                        <a:t>항목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현재 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해석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1384874"/>
                  </a:ext>
                </a:extLst>
              </a:tr>
              <a:tr h="0">
                <a:tc>
                  <a:txBody>
                    <a:bodyPr/>
                    <a:lstStyle/>
                    <a:p>
                      <a:r>
                        <a:rPr lang="en-US" sz="1000"/>
                        <a:t>DB </a:t>
                      </a:r>
                      <a:r>
                        <a:rPr lang="ko-KR" altLang="en-US" sz="1000"/>
                        <a:t>원문 보존율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사용자 메시지는 삭제되지 않음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0579432"/>
                  </a:ext>
                </a:extLst>
              </a:tr>
              <a:tr h="0">
                <a:tc>
                  <a:txBody>
                    <a:bodyPr/>
                    <a:lstStyle/>
                    <a:p>
                      <a:r>
                        <a:rPr lang="ko-KR" altLang="en-US" sz="1000"/>
                        <a:t>경험 분석 입력의 사용자 원문 포함률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공고로 제거된 내용이 없는 현재 데이터 기준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3729481"/>
                  </a:ext>
                </a:extLst>
              </a:tr>
              <a:tr h="0">
                <a:tc>
                  <a:txBody>
                    <a:bodyPr/>
                    <a:lstStyle/>
                    <a:p>
                      <a:r>
                        <a:rPr lang="en-US" altLang="ko-KR" sz="1000"/>
                        <a:t>AI </a:t>
                      </a:r>
                      <a:r>
                        <a:rPr lang="ko-KR" altLang="en-US" sz="1000"/>
                        <a:t>답변 문맥 포함률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AI </a:t>
                      </a:r>
                      <a:r>
                        <a:rPr lang="ko-KR" altLang="en-US" sz="1000"/>
                        <a:t>질문과 요약은 전혀 포함되지 않음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7834055"/>
                  </a:ext>
                </a:extLst>
              </a:tr>
              <a:tr h="0">
                <a:tc>
                  <a:txBody>
                    <a:bodyPr/>
                    <a:lstStyle/>
                    <a:p>
                      <a:r>
                        <a:rPr lang="en-US" altLang="ko-KR" sz="1000"/>
                        <a:t>10</a:t>
                      </a:r>
                      <a:r>
                        <a:rPr lang="ko-KR" altLang="en-US" sz="1000"/>
                        <a:t>토큰 이하 짧은 사용자 메시지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26/38</a:t>
                      </a:r>
                      <a:r>
                        <a:rPr lang="ko-KR" altLang="en-US" sz="1000"/>
                        <a:t>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약 </a:t>
                      </a:r>
                      <a:r>
                        <a:rPr lang="en-US" altLang="ko-KR" sz="1000"/>
                        <a:t>68.4%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3368186"/>
                  </a:ext>
                </a:extLst>
              </a:tr>
              <a:tr h="0">
                <a:tc>
                  <a:txBody>
                    <a:bodyPr/>
                    <a:lstStyle/>
                    <a:p>
                      <a:r>
                        <a:rPr lang="ko-KR" altLang="en-US" sz="1000"/>
                        <a:t>짧은 메시지 중 직전 </a:t>
                      </a:r>
                      <a:r>
                        <a:rPr lang="en-US" altLang="ko-KR" sz="1000"/>
                        <a:t>AI </a:t>
                      </a:r>
                      <a:r>
                        <a:rPr lang="ko-KR" altLang="en-US" sz="1000"/>
                        <a:t>답변이 있는 경우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dirty="0"/>
                        <a:t>26/26</a:t>
                      </a:r>
                      <a:r>
                        <a:rPr lang="ko-KR" altLang="en-US" sz="1000" dirty="0"/>
                        <a:t>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문맥 의존 가능성이 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1688841"/>
                  </a:ext>
                </a:extLst>
              </a:tr>
            </a:tbl>
          </a:graphicData>
        </a:graphic>
      </p:graphicFrame>
      <p:sp>
        <p:nvSpPr>
          <p:cNvPr id="19" name="TextBox 18">
            <a:extLst>
              <a:ext uri="{FF2B5EF4-FFF2-40B4-BE49-F238E27FC236}">
                <a16:creationId xmlns:a16="http://schemas.microsoft.com/office/drawing/2014/main" id="{415E6F4D-476E-4D0D-BAB7-CEC15BB7CD0E}"/>
              </a:ext>
            </a:extLst>
          </p:cNvPr>
          <p:cNvSpPr txBox="1"/>
          <p:nvPr/>
        </p:nvSpPr>
        <p:spPr>
          <a:xfrm>
            <a:off x="270933" y="262467"/>
            <a:ext cx="1133644" cy="369332"/>
          </a:xfrm>
          <a:prstGeom prst="rect">
            <a:avLst/>
          </a:prstGeom>
          <a:noFill/>
        </p:spPr>
        <p:txBody>
          <a:bodyPr wrap="none" rtlCol="0">
            <a:spAutoFit/>
          </a:bodyPr>
          <a:lstStyle/>
          <a:p>
            <a:r>
              <a:rPr lang="en-US" altLang="ko-KR" dirty="0"/>
              <a:t>26-10-06</a:t>
            </a:r>
            <a:endParaRPr lang="ko-KR" altLang="en-US" dirty="0"/>
          </a:p>
        </p:txBody>
      </p:sp>
      <p:sp>
        <p:nvSpPr>
          <p:cNvPr id="20" name="TextBox 19">
            <a:extLst>
              <a:ext uri="{FF2B5EF4-FFF2-40B4-BE49-F238E27FC236}">
                <a16:creationId xmlns:a16="http://schemas.microsoft.com/office/drawing/2014/main" id="{E8FE7D8A-3A91-464F-9A1A-9CF4C15FDD2A}"/>
              </a:ext>
            </a:extLst>
          </p:cNvPr>
          <p:cNvSpPr txBox="1"/>
          <p:nvPr/>
        </p:nvSpPr>
        <p:spPr>
          <a:xfrm>
            <a:off x="1497711" y="324022"/>
            <a:ext cx="10423356" cy="246221"/>
          </a:xfrm>
          <a:prstGeom prst="rect">
            <a:avLst/>
          </a:prstGeom>
          <a:noFill/>
        </p:spPr>
        <p:txBody>
          <a:bodyPr wrap="square">
            <a:spAutoFit/>
          </a:bodyPr>
          <a:lstStyle/>
          <a:p>
            <a:r>
              <a:rPr lang="en-US" altLang="ko-KR" sz="1000" dirty="0"/>
              <a:t>/chat</a:t>
            </a:r>
            <a:r>
              <a:rPr lang="ko-KR" altLang="en-US" sz="1000" dirty="0"/>
              <a:t>에서 분석할 때 분석 토큰 절약하는 방법 연구</a:t>
            </a:r>
            <a:endParaRPr lang="en-US" altLang="ko-KR" sz="1000" dirty="0"/>
          </a:p>
        </p:txBody>
      </p:sp>
      <p:graphicFrame>
        <p:nvGraphicFramePr>
          <p:cNvPr id="21" name="Table 20">
            <a:extLst>
              <a:ext uri="{FF2B5EF4-FFF2-40B4-BE49-F238E27FC236}">
                <a16:creationId xmlns:a16="http://schemas.microsoft.com/office/drawing/2014/main" id="{180AD40F-99D2-4712-B642-03FBF4B859C3}"/>
              </a:ext>
            </a:extLst>
          </p:cNvPr>
          <p:cNvGraphicFramePr>
            <a:graphicFrameLocks noGrp="1"/>
          </p:cNvGraphicFramePr>
          <p:nvPr>
            <p:extLst>
              <p:ext uri="{D42A27DB-BD31-4B8C-83A1-F6EECF244321}">
                <p14:modId xmlns:p14="http://schemas.microsoft.com/office/powerpoint/2010/main" val="3856257429"/>
              </p:ext>
            </p:extLst>
          </p:nvPr>
        </p:nvGraphicFramePr>
        <p:xfrm>
          <a:off x="5794599" y="1122686"/>
          <a:ext cx="6234954" cy="2438400"/>
        </p:xfrm>
        <a:graphic>
          <a:graphicData uri="http://schemas.openxmlformats.org/drawingml/2006/table">
            <a:tbl>
              <a:tblPr/>
              <a:tblGrid>
                <a:gridCol w="2078318">
                  <a:extLst>
                    <a:ext uri="{9D8B030D-6E8A-4147-A177-3AD203B41FA5}">
                      <a16:colId xmlns:a16="http://schemas.microsoft.com/office/drawing/2014/main" val="1583547170"/>
                    </a:ext>
                  </a:extLst>
                </a:gridCol>
                <a:gridCol w="2078318">
                  <a:extLst>
                    <a:ext uri="{9D8B030D-6E8A-4147-A177-3AD203B41FA5}">
                      <a16:colId xmlns:a16="http://schemas.microsoft.com/office/drawing/2014/main" val="2028536375"/>
                    </a:ext>
                  </a:extLst>
                </a:gridCol>
                <a:gridCol w="2078318">
                  <a:extLst>
                    <a:ext uri="{9D8B030D-6E8A-4147-A177-3AD203B41FA5}">
                      <a16:colId xmlns:a16="http://schemas.microsoft.com/office/drawing/2014/main" val="2954182166"/>
                    </a:ext>
                  </a:extLst>
                </a:gridCol>
              </a:tblGrid>
              <a:tr h="0">
                <a:tc>
                  <a:txBody>
                    <a:bodyPr/>
                    <a:lstStyle/>
                    <a:p>
                      <a:r>
                        <a:rPr lang="en-US" sz="1000" dirty="0"/>
                        <a:t>KPI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ko-KR" altLang="en-US" sz="1000" dirty="0"/>
                        <a:t>현재 기준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ko-KR" altLang="en-US" sz="1000" dirty="0"/>
                        <a:t>개선 목표안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379281867"/>
                  </a:ext>
                </a:extLst>
              </a:tr>
              <a:tr h="0">
                <a:tc>
                  <a:txBody>
                    <a:bodyPr/>
                    <a:lstStyle/>
                    <a:p>
                      <a:r>
                        <a:rPr lang="ko-KR" altLang="en-US" sz="1000" dirty="0"/>
                        <a:t>총 입력 토큰</a:t>
                      </a:r>
                      <a:r>
                        <a:rPr lang="en-US" altLang="ko-KR" sz="1000" dirty="0"/>
                        <a:t>/</a:t>
                      </a:r>
                      <a:r>
                        <a:rPr lang="ko-KR" altLang="en-US" sz="1000" dirty="0"/>
                        <a:t>실행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8,436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dirty="0"/>
                        <a:t>30% </a:t>
                      </a:r>
                      <a:r>
                        <a:rPr lang="ko-KR" altLang="en-US" sz="1000" dirty="0"/>
                        <a:t>이상 감소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4782242"/>
                  </a:ext>
                </a:extLst>
              </a:tr>
              <a:tr h="0">
                <a:tc>
                  <a:txBody>
                    <a:bodyPr/>
                    <a:lstStyle/>
                    <a:p>
                      <a:r>
                        <a:rPr lang="en-US" sz="1000" dirty="0"/>
                        <a:t>LLM </a:t>
                      </a:r>
                      <a:r>
                        <a:rPr lang="ko-KR" altLang="en-US" sz="1000" dirty="0"/>
                        <a:t>호출 수</a:t>
                      </a:r>
                      <a:r>
                        <a:rPr lang="en-US" altLang="ko-KR" sz="1000" dirty="0"/>
                        <a:t>/</a:t>
                      </a:r>
                      <a:r>
                        <a:rPr lang="ko-KR" altLang="en-US" sz="1000" dirty="0"/>
                        <a:t>실행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6</a:t>
                      </a:r>
                      <a:r>
                        <a:rPr lang="ko-KR" altLang="en-US" sz="1000"/>
                        <a:t>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2~3</a:t>
                      </a:r>
                      <a:r>
                        <a:rPr lang="ko-KR" altLang="en-US" sz="1000"/>
                        <a:t>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54436"/>
                  </a:ext>
                </a:extLst>
              </a:tr>
              <a:tr h="0">
                <a:tc>
                  <a:txBody>
                    <a:bodyPr/>
                    <a:lstStyle/>
                    <a:p>
                      <a:r>
                        <a:rPr lang="ko-KR" altLang="en-US" sz="1000"/>
                        <a:t>토큰 증폭률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20.8</a:t>
                      </a:r>
                      <a:r>
                        <a:rPr lang="ko-KR" altLang="en-US" sz="1000"/>
                        <a:t>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10</a:t>
                      </a:r>
                      <a:r>
                        <a:rPr lang="ko-KR" altLang="en-US" sz="1000"/>
                        <a:t>배 이하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3757640"/>
                  </a:ext>
                </a:extLst>
              </a:tr>
              <a:tr h="0">
                <a:tc>
                  <a:txBody>
                    <a:bodyPr/>
                    <a:lstStyle/>
                    <a:p>
                      <a:r>
                        <a:rPr lang="ko-KR" altLang="en-US" sz="1000"/>
                        <a:t>고유 원문 비율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dirty="0"/>
                        <a:t>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10% </a:t>
                      </a:r>
                      <a:r>
                        <a:rPr lang="ko-KR" altLang="en-US" sz="1000"/>
                        <a:t>이상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8415316"/>
                  </a:ext>
                </a:extLst>
              </a:tr>
              <a:tr h="0">
                <a:tc>
                  <a:txBody>
                    <a:bodyPr/>
                    <a:lstStyle/>
                    <a:p>
                      <a:r>
                        <a:rPr lang="ko-KR" altLang="en-US" sz="1000"/>
                        <a:t>출력 토큰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미측정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실제 </a:t>
                      </a:r>
                      <a:r>
                        <a:rPr lang="en-US" sz="1000"/>
                        <a:t>API usage </a:t>
                      </a:r>
                      <a:r>
                        <a:rPr lang="ko-KR" altLang="en-US" sz="1000"/>
                        <a:t>기록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650015"/>
                  </a:ext>
                </a:extLst>
              </a:tr>
              <a:tr h="0">
                <a:tc>
                  <a:txBody>
                    <a:bodyPr/>
                    <a:lstStyle/>
                    <a:p>
                      <a:r>
                        <a:rPr lang="ko-KR" altLang="en-US" sz="1000"/>
                        <a:t>캐시 토큰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미측정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실제 </a:t>
                      </a:r>
                      <a:r>
                        <a:rPr lang="en-US" sz="1000"/>
                        <a:t>cached_tokens </a:t>
                      </a:r>
                      <a:r>
                        <a:rPr lang="ko-KR" altLang="en-US" sz="1000"/>
                        <a:t>기록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3714506"/>
                  </a:ext>
                </a:extLst>
              </a:tr>
              <a:tr h="0">
                <a:tc>
                  <a:txBody>
                    <a:bodyPr/>
                    <a:lstStyle/>
                    <a:p>
                      <a:r>
                        <a:rPr lang="ko-KR" altLang="en-US" sz="1000"/>
                        <a:t>실행 비용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입력 약 </a:t>
                      </a:r>
                      <a:r>
                        <a:rPr lang="en-US" altLang="ko-KR" sz="1000" dirty="0"/>
                        <a:t>$0.00127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품질 저하 없이 감소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4934594"/>
                  </a:ext>
                </a:extLst>
              </a:tr>
              <a:tr h="0">
                <a:tc>
                  <a:txBody>
                    <a:bodyPr/>
                    <a:lstStyle/>
                    <a:p>
                      <a:r>
                        <a:rPr lang="ko-KR" altLang="en-US" sz="1000"/>
                        <a:t>전체 처리시간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미측정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a:t>p50·p95 </a:t>
                      </a:r>
                      <a:r>
                        <a:rPr lang="ko-KR" altLang="en-US" sz="1000"/>
                        <a:t>기록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6846926"/>
                  </a:ext>
                </a:extLst>
              </a:tr>
              <a:tr h="0">
                <a:tc>
                  <a:txBody>
                    <a:bodyPr/>
                    <a:lstStyle/>
                    <a:p>
                      <a:r>
                        <a:rPr lang="ko-KR" altLang="en-US" sz="1000" dirty="0"/>
                        <a:t>단계별 처리시간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미측정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라우팅</a:t>
                      </a:r>
                      <a:r>
                        <a:rPr lang="en-US" altLang="ko-KR" sz="1000" dirty="0"/>
                        <a:t>·</a:t>
                      </a:r>
                      <a:r>
                        <a:rPr lang="ko-KR" altLang="en-US" sz="1000" dirty="0"/>
                        <a:t>공고</a:t>
                      </a:r>
                      <a:r>
                        <a:rPr lang="en-US" altLang="ko-KR" sz="1000" dirty="0"/>
                        <a:t>·</a:t>
                      </a:r>
                      <a:r>
                        <a:rPr lang="ko-KR" altLang="en-US" sz="1000" dirty="0"/>
                        <a:t>경험별 기록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6489067"/>
                  </a:ext>
                </a:extLst>
              </a:tr>
            </a:tbl>
          </a:graphicData>
        </a:graphic>
      </p:graphicFrame>
      <p:graphicFrame>
        <p:nvGraphicFramePr>
          <p:cNvPr id="22" name="Table 21">
            <a:extLst>
              <a:ext uri="{FF2B5EF4-FFF2-40B4-BE49-F238E27FC236}">
                <a16:creationId xmlns:a16="http://schemas.microsoft.com/office/drawing/2014/main" id="{EEA36E87-66C8-4AF3-A5F6-A1BA3BDBB4E5}"/>
              </a:ext>
            </a:extLst>
          </p:cNvPr>
          <p:cNvGraphicFramePr>
            <a:graphicFrameLocks noGrp="1"/>
          </p:cNvGraphicFramePr>
          <p:nvPr>
            <p:extLst>
              <p:ext uri="{D42A27DB-BD31-4B8C-83A1-F6EECF244321}">
                <p14:modId xmlns:p14="http://schemas.microsoft.com/office/powerpoint/2010/main" val="1862130459"/>
              </p:ext>
            </p:extLst>
          </p:nvPr>
        </p:nvGraphicFramePr>
        <p:xfrm>
          <a:off x="5896698" y="3867192"/>
          <a:ext cx="6030757" cy="2666786"/>
        </p:xfrm>
        <a:graphic>
          <a:graphicData uri="http://schemas.openxmlformats.org/drawingml/2006/table">
            <a:tbl>
              <a:tblPr/>
              <a:tblGrid>
                <a:gridCol w="1826310">
                  <a:extLst>
                    <a:ext uri="{9D8B030D-6E8A-4147-A177-3AD203B41FA5}">
                      <a16:colId xmlns:a16="http://schemas.microsoft.com/office/drawing/2014/main" val="3443169222"/>
                    </a:ext>
                  </a:extLst>
                </a:gridCol>
                <a:gridCol w="3220314">
                  <a:extLst>
                    <a:ext uri="{9D8B030D-6E8A-4147-A177-3AD203B41FA5}">
                      <a16:colId xmlns:a16="http://schemas.microsoft.com/office/drawing/2014/main" val="3966342709"/>
                    </a:ext>
                  </a:extLst>
                </a:gridCol>
                <a:gridCol w="984133">
                  <a:extLst>
                    <a:ext uri="{9D8B030D-6E8A-4147-A177-3AD203B41FA5}">
                      <a16:colId xmlns:a16="http://schemas.microsoft.com/office/drawing/2014/main" val="2542776190"/>
                    </a:ext>
                  </a:extLst>
                </a:gridCol>
              </a:tblGrid>
              <a:tr h="187455">
                <a:tc>
                  <a:txBody>
                    <a:bodyPr/>
                    <a:lstStyle/>
                    <a:p>
                      <a:r>
                        <a:rPr lang="en-US" sz="1000" dirty="0"/>
                        <a:t>KPI</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ko-KR" altLang="en-US" sz="1000" dirty="0"/>
                        <a:t>정의</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ko-KR" altLang="en-US" sz="1000" dirty="0"/>
                        <a:t>목표안</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4165236497"/>
                  </a:ext>
                </a:extLst>
              </a:tr>
              <a:tr h="186051">
                <a:tc>
                  <a:txBody>
                    <a:bodyPr/>
                    <a:lstStyle/>
                    <a:p>
                      <a:r>
                        <a:rPr lang="ko-KR" altLang="en-US" sz="1000"/>
                        <a:t>원문 보존율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dirty="0"/>
                        <a:t>DB</a:t>
                      </a:r>
                      <a:r>
                        <a:rPr lang="ko-KR" altLang="en-US" sz="1000" dirty="0"/>
                        <a:t>에 유지되는 사용자 원문</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100%</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586841"/>
                  </a:ext>
                </a:extLst>
              </a:tr>
              <a:tr h="312782">
                <a:tc>
                  <a:txBody>
                    <a:bodyPr/>
                    <a:lstStyle/>
                    <a:p>
                      <a:r>
                        <a:rPr lang="ko-KR" altLang="en-US" sz="1000"/>
                        <a:t>관련 구간 라우팅 재현율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dirty="0"/>
                        <a:t>실제 경험</a:t>
                      </a:r>
                      <a:r>
                        <a:rPr lang="en-US" altLang="ko-KR" sz="1000" dirty="0"/>
                        <a:t>·</a:t>
                      </a:r>
                      <a:r>
                        <a:rPr lang="ko-KR" altLang="en-US" sz="1000" dirty="0"/>
                        <a:t>공고 중 분석기에 전달된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99% </a:t>
                      </a:r>
                      <a:r>
                        <a:rPr lang="ko-KR" altLang="en-US" sz="1000" b="1"/>
                        <a:t>이상</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594779"/>
                  </a:ext>
                </a:extLst>
              </a:tr>
              <a:tr h="280467">
                <a:tc>
                  <a:txBody>
                    <a:bodyPr/>
                    <a:lstStyle/>
                    <a:p>
                      <a:r>
                        <a:rPr lang="ko-KR" altLang="en-US" sz="1000"/>
                        <a:t>오제외율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중요한 내용을 </a:t>
                      </a:r>
                      <a:r>
                        <a:rPr lang="en-US" altLang="ko-KR" sz="1000"/>
                        <a:t>irrelevant</a:t>
                      </a:r>
                      <a:r>
                        <a:rPr lang="ko-KR" altLang="en-US" sz="1000"/>
                        <a:t>로 제외한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1% </a:t>
                      </a:r>
                      <a:r>
                        <a:rPr lang="ko-KR" altLang="en-US" sz="1000" b="1"/>
                        <a:t>이하</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898656"/>
                  </a:ext>
                </a:extLst>
              </a:tr>
              <a:tr h="280467">
                <a:tc>
                  <a:txBody>
                    <a:bodyPr/>
                    <a:lstStyle/>
                    <a:p>
                      <a:r>
                        <a:rPr lang="ko-KR" altLang="en-US" sz="1000"/>
                        <a:t>핵심 사실 보존율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수치</a:t>
                      </a:r>
                      <a:r>
                        <a:rPr lang="en-US" altLang="ko-KR" sz="1000"/>
                        <a:t>·</a:t>
                      </a:r>
                      <a:r>
                        <a:rPr lang="ko-KR" altLang="en-US" sz="1000"/>
                        <a:t>기간</a:t>
                      </a:r>
                      <a:r>
                        <a:rPr lang="en-US" altLang="ko-KR" sz="1000"/>
                        <a:t>·</a:t>
                      </a:r>
                      <a:r>
                        <a:rPr lang="ko-KR" altLang="en-US" sz="1000"/>
                        <a:t>행동</a:t>
                      </a:r>
                      <a:r>
                        <a:rPr lang="en-US" altLang="ko-KR" sz="1000"/>
                        <a:t>·</a:t>
                      </a:r>
                      <a:r>
                        <a:rPr lang="ko-KR" altLang="en-US" sz="1000"/>
                        <a:t>성과가 결과에 남는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98% </a:t>
                      </a:r>
                      <a:r>
                        <a:rPr lang="ko-KR" altLang="en-US" sz="1000" b="1"/>
                        <a:t>이상</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460535"/>
                  </a:ext>
                </a:extLst>
              </a:tr>
              <a:tr h="280467">
                <a:tc>
                  <a:txBody>
                    <a:bodyPr/>
                    <a:lstStyle/>
                    <a:p>
                      <a:r>
                        <a:rPr lang="ko-KR" altLang="en-US" sz="1000"/>
                        <a:t>정확 인용률</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결과의 인용문이 실제 사용자 원문에 존재하는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100%</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973375"/>
                  </a:ext>
                </a:extLst>
              </a:tr>
              <a:tr h="280467">
                <a:tc>
                  <a:txBody>
                    <a:bodyPr/>
                    <a:lstStyle/>
                    <a:p>
                      <a:r>
                        <a:rPr lang="en-US" sz="1000"/>
                        <a:t>AI </a:t>
                      </a:r>
                      <a:r>
                        <a:rPr lang="ko-KR" altLang="en-US" sz="1000"/>
                        <a:t>답변 오염률</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a:t>AI </a:t>
                      </a:r>
                      <a:r>
                        <a:rPr lang="ko-KR" altLang="en-US" sz="1000"/>
                        <a:t>답변에만 있는 내용이 사용자 사실로 저장된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0%</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154253"/>
                  </a:ext>
                </a:extLst>
              </a:tr>
              <a:tr h="280467">
                <a:tc>
                  <a:txBody>
                    <a:bodyPr/>
                    <a:lstStyle/>
                    <a:p>
                      <a:r>
                        <a:rPr lang="ko-KR" altLang="en-US" sz="1000"/>
                        <a:t>문맥 연결 정확도</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짧은 답변이 앞선 </a:t>
                      </a:r>
                      <a:r>
                        <a:rPr lang="en-US" altLang="ko-KR" sz="1000"/>
                        <a:t>AI </a:t>
                      </a:r>
                      <a:r>
                        <a:rPr lang="ko-KR" altLang="en-US" sz="1000"/>
                        <a:t>질문과 올바르게 연결된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95% </a:t>
                      </a:r>
                      <a:r>
                        <a:rPr lang="ko-KR" altLang="en-US" sz="1000" b="1"/>
                        <a:t>이상</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4433697"/>
                  </a:ext>
                </a:extLst>
              </a:tr>
              <a:tr h="280467">
                <a:tc>
                  <a:txBody>
                    <a:bodyPr/>
                    <a:lstStyle/>
                    <a:p>
                      <a:r>
                        <a:rPr lang="ko-KR" altLang="en-US" sz="1000"/>
                        <a:t>공고→경험 혼입률</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공고 요구사항이 사용자 경험으로 생성된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a:t>0%</a:t>
                      </a:r>
                      <a:endParaRPr lang="ko-KR" altLang="en-US" sz="100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452489"/>
                  </a:ext>
                </a:extLst>
              </a:tr>
              <a:tr h="186051">
                <a:tc>
                  <a:txBody>
                    <a:bodyPr/>
                    <a:lstStyle/>
                    <a:p>
                      <a:r>
                        <a:rPr lang="ko-KR" altLang="en-US" sz="1000"/>
                        <a:t>공고 중복 저장률</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000"/>
                        <a:t>동일 공고가 중복 저장된 비율</a:t>
                      </a:r>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000" b="1" dirty="0"/>
                        <a:t>0%</a:t>
                      </a:r>
                      <a:endParaRPr lang="ko-KR" altLang="en-US" sz="1000" dirty="0"/>
                    </a:p>
                  </a:txBody>
                  <a:tcPr marL="71333" marR="71333"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122031"/>
                  </a:ext>
                </a:extLst>
              </a:tr>
            </a:tbl>
          </a:graphicData>
        </a:graphic>
      </p:graphicFrame>
    </p:spTree>
    <p:extLst>
      <p:ext uri="{BB962C8B-B14F-4D97-AF65-F5344CB8AC3E}">
        <p14:creationId xmlns:p14="http://schemas.microsoft.com/office/powerpoint/2010/main" val="3548731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657079D6-8102-44D4-AF0C-02B69ED3453D}"/>
              </a:ext>
            </a:extLst>
          </p:cNvPr>
          <p:cNvSpPr txBox="1"/>
          <p:nvPr/>
        </p:nvSpPr>
        <p:spPr>
          <a:xfrm>
            <a:off x="380909" y="982883"/>
            <a:ext cx="3706997" cy="1938992"/>
          </a:xfrm>
          <a:prstGeom prst="rect">
            <a:avLst/>
          </a:prstGeom>
          <a:noFill/>
        </p:spPr>
        <p:txBody>
          <a:bodyPr wrap="square">
            <a:spAutoFit/>
          </a:bodyPr>
          <a:lstStyle/>
          <a:p>
            <a:r>
              <a:rPr lang="ko-KR" altLang="en-US" sz="1200" b="1" dirty="0"/>
              <a:t>핵심 개선 방향</a:t>
            </a:r>
          </a:p>
          <a:p>
            <a:r>
              <a:rPr lang="ko-KR" altLang="en-US" sz="1200" dirty="0"/>
              <a:t>기존 구조는 대화 전체를 여러 분석 단계에서 반복적으로 처리하면서</a:t>
            </a:r>
            <a:r>
              <a:rPr lang="en-US" altLang="ko-KR" sz="1200" dirty="0"/>
              <a:t>, AI </a:t>
            </a:r>
            <a:r>
              <a:rPr lang="ko-KR" altLang="en-US" sz="1200" dirty="0"/>
              <a:t>답변과 사용자 발화를 함께 증거처럼 사용하는 구조였습니다</a:t>
            </a:r>
            <a:r>
              <a:rPr lang="en-US" altLang="ko-KR" sz="1200" dirty="0"/>
              <a:t>. </a:t>
            </a:r>
            <a:r>
              <a:rPr lang="ko-KR" altLang="en-US" sz="1200" dirty="0"/>
              <a:t>이 때문에 </a:t>
            </a:r>
            <a:r>
              <a:rPr lang="ko-KR" altLang="en-US" sz="1200" dirty="0">
                <a:highlight>
                  <a:srgbClr val="FFFF00"/>
                </a:highlight>
              </a:rPr>
              <a:t>불필요한 </a:t>
            </a:r>
            <a:r>
              <a:rPr lang="en-US" altLang="ko-KR" sz="1200" dirty="0">
                <a:highlight>
                  <a:srgbClr val="FFFF00"/>
                </a:highlight>
              </a:rPr>
              <a:t>LLM </a:t>
            </a:r>
            <a:r>
              <a:rPr lang="ko-KR" altLang="en-US" sz="1200" dirty="0">
                <a:highlight>
                  <a:srgbClr val="FFFF00"/>
                </a:highlight>
              </a:rPr>
              <a:t>호출과 중복 공고 탐색이 발생했고</a:t>
            </a:r>
            <a:r>
              <a:rPr lang="en-US" altLang="ko-KR" sz="1200" dirty="0">
                <a:highlight>
                  <a:srgbClr val="FFFF00"/>
                </a:highlight>
              </a:rPr>
              <a:t>, </a:t>
            </a:r>
            <a:r>
              <a:rPr lang="ko-KR" altLang="en-US" sz="1200" dirty="0">
                <a:highlight>
                  <a:srgbClr val="FFFF00"/>
                </a:highlight>
              </a:rPr>
              <a:t>짧은 사용자 응답의 의미를 제대로 복원하지 못했습니다</a:t>
            </a:r>
            <a:r>
              <a:rPr lang="en-US" altLang="ko-KR" sz="1200" dirty="0"/>
              <a:t>.</a:t>
            </a:r>
          </a:p>
          <a:p>
            <a:endParaRPr lang="en-US" altLang="ko-KR" sz="12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이를 다음 구조로 변경했습니다.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highlight>
                  <a:srgbClr val="FFFF00"/>
                </a:highlight>
                <a:latin typeface="Arial" panose="020B0604020202020204" pitchFamily="34" charset="0"/>
              </a:rPr>
              <a:t>대화 전체 반복 분석 구조 → 콘텐츠 유형을 먼저 분류하고 필요한 분석만 수행하는 라우팅 구조</a:t>
            </a:r>
          </a:p>
        </p:txBody>
      </p:sp>
      <p:graphicFrame>
        <p:nvGraphicFramePr>
          <p:cNvPr id="22" name="Table 21">
            <a:extLst>
              <a:ext uri="{FF2B5EF4-FFF2-40B4-BE49-F238E27FC236}">
                <a16:creationId xmlns:a16="http://schemas.microsoft.com/office/drawing/2014/main" id="{F7AB782D-BCE8-4AC2-97CE-9B6073C65FD4}"/>
              </a:ext>
            </a:extLst>
          </p:cNvPr>
          <p:cNvGraphicFramePr>
            <a:graphicFrameLocks noGrp="1"/>
          </p:cNvGraphicFramePr>
          <p:nvPr>
            <p:extLst>
              <p:ext uri="{D42A27DB-BD31-4B8C-83A1-F6EECF244321}">
                <p14:modId xmlns:p14="http://schemas.microsoft.com/office/powerpoint/2010/main" val="91611767"/>
              </p:ext>
            </p:extLst>
          </p:nvPr>
        </p:nvGraphicFramePr>
        <p:xfrm>
          <a:off x="4254872" y="982883"/>
          <a:ext cx="7472952" cy="5298949"/>
        </p:xfrm>
        <a:graphic>
          <a:graphicData uri="http://schemas.openxmlformats.org/drawingml/2006/table">
            <a:tbl>
              <a:tblPr/>
              <a:tblGrid>
                <a:gridCol w="1193084">
                  <a:extLst>
                    <a:ext uri="{9D8B030D-6E8A-4147-A177-3AD203B41FA5}">
                      <a16:colId xmlns:a16="http://schemas.microsoft.com/office/drawing/2014/main" val="3017280085"/>
                    </a:ext>
                  </a:extLst>
                </a:gridCol>
                <a:gridCol w="1993134">
                  <a:extLst>
                    <a:ext uri="{9D8B030D-6E8A-4147-A177-3AD203B41FA5}">
                      <a16:colId xmlns:a16="http://schemas.microsoft.com/office/drawing/2014/main" val="698119678"/>
                    </a:ext>
                  </a:extLst>
                </a:gridCol>
                <a:gridCol w="2587831">
                  <a:extLst>
                    <a:ext uri="{9D8B030D-6E8A-4147-A177-3AD203B41FA5}">
                      <a16:colId xmlns:a16="http://schemas.microsoft.com/office/drawing/2014/main" val="4000646084"/>
                    </a:ext>
                  </a:extLst>
                </a:gridCol>
                <a:gridCol w="1698903">
                  <a:extLst>
                    <a:ext uri="{9D8B030D-6E8A-4147-A177-3AD203B41FA5}">
                      <a16:colId xmlns:a16="http://schemas.microsoft.com/office/drawing/2014/main" val="1493755750"/>
                    </a:ext>
                  </a:extLst>
                </a:gridCol>
              </a:tblGrid>
              <a:tr h="158230">
                <a:tc>
                  <a:txBody>
                    <a:bodyPr/>
                    <a:lstStyle/>
                    <a:p>
                      <a:r>
                        <a:rPr lang="ko-KR" altLang="en-US" sz="1200" dirty="0"/>
                        <a:t>개선 항목</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dirty="0"/>
                        <a:t>기존 상태</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변경 후 상태</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변경 의도</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496007"/>
                  </a:ext>
                </a:extLst>
              </a:tr>
              <a:tr h="395576">
                <a:tc>
                  <a:txBody>
                    <a:bodyPr/>
                    <a:lstStyle/>
                    <a:p>
                      <a:r>
                        <a:rPr lang="ko-KR" altLang="en-US" sz="1200" dirty="0"/>
                        <a:t>분석 흐름</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모든 대화를 경험</a:t>
                      </a:r>
                      <a:r>
                        <a:rPr lang="en-US" altLang="ko-KR" sz="1200"/>
                        <a:t>·</a:t>
                      </a:r>
                      <a:r>
                        <a:rPr lang="ko-KR" altLang="en-US" sz="1200"/>
                        <a:t>공고</a:t>
                      </a:r>
                      <a:r>
                        <a:rPr lang="en-US" altLang="ko-KR" sz="1200"/>
                        <a:t>·</a:t>
                      </a:r>
                      <a:r>
                        <a:rPr lang="ko-KR" altLang="en-US" sz="1200"/>
                        <a:t>기타 분석 단계에서 반복 처리</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200"/>
                        <a:t>LangGraph</a:t>
                      </a:r>
                      <a:r>
                        <a:rPr lang="ko-KR" altLang="en-US" sz="1200"/>
                        <a:t>에 콘텐츠 라우팅 단계를 추가해 필요한 분석 경로만 선택</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불필요한 분석과 </a:t>
                      </a:r>
                      <a:r>
                        <a:rPr lang="en-US" altLang="ko-KR" sz="1200"/>
                        <a:t>LLM </a:t>
                      </a:r>
                      <a:r>
                        <a:rPr lang="ko-KR" altLang="en-US" sz="1200"/>
                        <a:t>호출 제거</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1906732"/>
                  </a:ext>
                </a:extLst>
              </a:tr>
              <a:tr h="514249">
                <a:tc>
                  <a:txBody>
                    <a:bodyPr/>
                    <a:lstStyle/>
                    <a:p>
                      <a:r>
                        <a:rPr lang="ko-KR" altLang="en-US" sz="1200" dirty="0"/>
                        <a:t>콘텐츠 분류</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경험</a:t>
                      </a:r>
                      <a:r>
                        <a:rPr lang="en-US" altLang="ko-KR" sz="1200"/>
                        <a:t>, </a:t>
                      </a:r>
                      <a:r>
                        <a:rPr lang="ko-KR" altLang="en-US" sz="1200"/>
                        <a:t>공고</a:t>
                      </a:r>
                      <a:r>
                        <a:rPr lang="en-US" altLang="ko-KR" sz="1200"/>
                        <a:t>, </a:t>
                      </a:r>
                      <a:r>
                        <a:rPr lang="ko-KR" altLang="en-US" sz="1200"/>
                        <a:t>무관 대화를 각 단계에서 개별적으로 판단</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200" dirty="0"/>
                        <a:t>Function Calling </a:t>
                      </a:r>
                      <a:r>
                        <a:rPr lang="ko-KR" altLang="en-US" sz="1200" dirty="0"/>
                        <a:t>기반 통합 라우터가 경험</a:t>
                      </a:r>
                      <a:r>
                        <a:rPr lang="en-US" altLang="ko-KR" sz="1200" dirty="0"/>
                        <a:t>·</a:t>
                      </a:r>
                      <a:r>
                        <a:rPr lang="ko-KR" altLang="en-US" sz="1200" dirty="0"/>
                        <a:t>공고</a:t>
                      </a:r>
                      <a:r>
                        <a:rPr lang="en-US" altLang="ko-KR" sz="1200" dirty="0"/>
                        <a:t>·</a:t>
                      </a:r>
                      <a:r>
                        <a:rPr lang="ko-KR" altLang="en-US" sz="1200" dirty="0"/>
                        <a:t>혼합</a:t>
                      </a:r>
                      <a:r>
                        <a:rPr lang="en-US" altLang="ko-KR" sz="1200" dirty="0"/>
                        <a:t>·</a:t>
                      </a:r>
                      <a:r>
                        <a:rPr lang="ko-KR" altLang="en-US" sz="1200" dirty="0"/>
                        <a:t>무관</a:t>
                      </a:r>
                      <a:r>
                        <a:rPr lang="en-US" altLang="ko-KR" sz="1200" dirty="0"/>
                        <a:t>·</a:t>
                      </a:r>
                      <a:r>
                        <a:rPr lang="ko-KR" altLang="en-US" sz="1200" dirty="0"/>
                        <a:t>불확실로 분류</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분석 기준을 중앙화하고 분류 일관성 확보</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3517512"/>
                  </a:ext>
                </a:extLst>
              </a:tr>
              <a:tr h="395576">
                <a:tc>
                  <a:txBody>
                    <a:bodyPr/>
                    <a:lstStyle/>
                    <a:p>
                      <a:r>
                        <a:rPr lang="ko-KR" altLang="en-US" sz="1200"/>
                        <a:t>공고 탐색</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대화가 길어져도 기존 공고를 반복 탐색</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라우터 결과에 따라 공고 분석이 필요한 경우에만 탐색</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중복 공고 탐색 제거 및 처리시간 단축</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891184"/>
                  </a:ext>
                </a:extLst>
              </a:tr>
              <a:tr h="395576">
                <a:tc>
                  <a:txBody>
                    <a:bodyPr/>
                    <a:lstStyle/>
                    <a:p>
                      <a:r>
                        <a:rPr lang="ko-KR" altLang="en-US" sz="1200"/>
                        <a:t>사용자 원문 보존</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dirty="0"/>
                        <a:t>분석 과정에서 요약</a:t>
                      </a:r>
                      <a:r>
                        <a:rPr lang="en-US" altLang="ko-KR" sz="1200" dirty="0"/>
                        <a:t>·</a:t>
                      </a:r>
                      <a:r>
                        <a:rPr lang="ko-KR" altLang="en-US" sz="1200" dirty="0"/>
                        <a:t>가공된 내용 중심으로 저장될 가능성 존재</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사용자가 입력한 원문 전체를 별도로 보존</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원문 기반 검증과 정확한 인용 보장</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039933"/>
                  </a:ext>
                </a:extLst>
              </a:tr>
              <a:tr h="395576">
                <a:tc>
                  <a:txBody>
                    <a:bodyPr/>
                    <a:lstStyle/>
                    <a:p>
                      <a:r>
                        <a:rPr lang="en-US" sz="1200"/>
                        <a:t>AI </a:t>
                      </a:r>
                      <a:r>
                        <a:rPr lang="ko-KR" altLang="en-US" sz="1200"/>
                        <a:t>답변 활용</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200" dirty="0"/>
                        <a:t>AI </a:t>
                      </a:r>
                      <a:r>
                        <a:rPr lang="ko-KR" altLang="en-US" sz="1200" dirty="0"/>
                        <a:t>답변이 사용자 경험의 증거처럼 함께 사용될 수 있음</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짧은 사용자 응답의 질문 문맥을 해석하는 용도로만 사용</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200"/>
                        <a:t>AI</a:t>
                      </a:r>
                      <a:r>
                        <a:rPr lang="ko-KR" altLang="en-US" sz="1200"/>
                        <a:t>가 생성한 내용이 사실로 저장되는 문제 방지</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0701912"/>
                  </a:ext>
                </a:extLst>
              </a:tr>
              <a:tr h="395576">
                <a:tc>
                  <a:txBody>
                    <a:bodyPr/>
                    <a:lstStyle/>
                    <a:p>
                      <a:r>
                        <a:rPr lang="ko-KR" altLang="en-US" sz="1200" dirty="0"/>
                        <a:t>인용 검증</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생성된 인용이 원문과 일치하는지 충분히 검증하지 않음</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원문과 일치하지 않는 인용은 자동으로 재요청</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dirty="0"/>
                        <a:t>잘못된 인용과 허위 사실 생성 방지</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364957"/>
                  </a:ext>
                </a:extLst>
              </a:tr>
              <a:tr h="514249">
                <a:tc>
                  <a:txBody>
                    <a:bodyPr/>
                    <a:lstStyle/>
                    <a:p>
                      <a:r>
                        <a:rPr lang="ko-KR" altLang="en-US" sz="1200" dirty="0"/>
                        <a:t>채용공고 저장</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dirty="0"/>
                        <a:t>“</a:t>
                      </a:r>
                      <a:r>
                        <a:rPr lang="en-US" altLang="ko-KR" sz="1200" dirty="0"/>
                        <a:t>Python </a:t>
                      </a:r>
                      <a:r>
                        <a:rPr lang="ko-KR" altLang="en-US" sz="1200" dirty="0"/>
                        <a:t>경험이 필요하다”와 같은 단일 요구사항도 공고로 저장될 가능성</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완전한 채용공고 문맥이 확인된 경우에만 공고로 저장</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공고 오탐 및 잘못된 </a:t>
                      </a:r>
                      <a:r>
                        <a:rPr lang="en-US" altLang="ko-KR" sz="1200"/>
                        <a:t>DB </a:t>
                      </a:r>
                      <a:r>
                        <a:rPr lang="ko-KR" altLang="en-US" sz="1200"/>
                        <a:t>저장 방지</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6011626"/>
                  </a:ext>
                </a:extLst>
              </a:tr>
              <a:tr h="395576">
                <a:tc>
                  <a:txBody>
                    <a:bodyPr/>
                    <a:lstStyle/>
                    <a:p>
                      <a:r>
                        <a:rPr lang="en-US" sz="1200"/>
                        <a:t>DB </a:t>
                      </a:r>
                      <a:r>
                        <a:rPr lang="ko-KR" altLang="en-US" sz="1200"/>
                        <a:t>처리</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분석 테스트가 운영 </a:t>
                      </a:r>
                      <a:r>
                        <a:rPr lang="en-US" altLang="ko-KR" sz="1200"/>
                        <a:t>DB </a:t>
                      </a:r>
                      <a:r>
                        <a:rPr lang="ko-KR" altLang="en-US" sz="1200"/>
                        <a:t>쓰기와 분리되어 있지 않음</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콜드 </a:t>
                      </a:r>
                      <a:r>
                        <a:rPr lang="en-US" altLang="ko-KR" sz="1200"/>
                        <a:t>1</a:t>
                      </a:r>
                      <a:r>
                        <a:rPr lang="ko-KR" altLang="en-US" sz="1200"/>
                        <a:t>회</a:t>
                      </a:r>
                      <a:r>
                        <a:rPr lang="en-US" altLang="ko-KR" sz="1200"/>
                        <a:t>·</a:t>
                      </a:r>
                      <a:r>
                        <a:rPr lang="ko-KR" altLang="en-US" sz="1200"/>
                        <a:t>반복 </a:t>
                      </a:r>
                      <a:r>
                        <a:rPr lang="en-US" altLang="ko-KR" sz="1200"/>
                        <a:t>3</a:t>
                      </a:r>
                      <a:r>
                        <a:rPr lang="ko-KR" altLang="en-US" sz="1200"/>
                        <a:t>회 벤치마크 모두 운영 </a:t>
                      </a:r>
                      <a:r>
                        <a:rPr lang="en-US" altLang="ko-KR" sz="1200"/>
                        <a:t>DB </a:t>
                      </a:r>
                      <a:r>
                        <a:rPr lang="ko-KR" altLang="en-US" sz="1200"/>
                        <a:t>쓰기 없이 실행</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성능 측정과 운영 데이터 안전성 분리</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114680"/>
                  </a:ext>
                </a:extLst>
              </a:tr>
              <a:tr h="395576">
                <a:tc>
                  <a:txBody>
                    <a:bodyPr/>
                    <a:lstStyle/>
                    <a:p>
                      <a:r>
                        <a:rPr lang="ko-KR" altLang="en-US" sz="1200"/>
                        <a:t>성능 측정</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전체 결과 중심으로만 확인</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토큰</a:t>
                      </a:r>
                      <a:r>
                        <a:rPr lang="en-US" altLang="ko-KR" sz="1200"/>
                        <a:t>, </a:t>
                      </a:r>
                      <a:r>
                        <a:rPr lang="ko-KR" altLang="en-US" sz="1200"/>
                        <a:t>비용</a:t>
                      </a:r>
                      <a:r>
                        <a:rPr lang="en-US" altLang="ko-KR" sz="1200"/>
                        <a:t>, </a:t>
                      </a:r>
                      <a:r>
                        <a:rPr lang="ko-KR" altLang="en-US" sz="1200"/>
                        <a:t>단계별 처리시간</a:t>
                      </a:r>
                      <a:r>
                        <a:rPr lang="en-US" altLang="ko-KR" sz="1200"/>
                        <a:t>, LLM </a:t>
                      </a:r>
                      <a:r>
                        <a:rPr lang="ko-KR" altLang="en-US" sz="1200"/>
                        <a:t>호출 횟수 계측</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개선 효과를 정량적으로 검증</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348436"/>
                  </a:ext>
                </a:extLst>
              </a:tr>
              <a:tr h="395576">
                <a:tc>
                  <a:txBody>
                    <a:bodyPr/>
                    <a:lstStyle/>
                    <a:p>
                      <a:r>
                        <a:rPr lang="ko-KR" altLang="en-US" sz="1200" dirty="0"/>
                        <a:t>실패 처리</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분석 실패나 불확실한 분류에 대한 명확한 안전 경로 부족</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불확실 콘텐츠를 별도 분류하고 보수적으로 처리</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dirty="0"/>
                        <a:t>잘못된 분류와 데이터 오염 최소화</a:t>
                      </a:r>
                    </a:p>
                  </a:txBody>
                  <a:tcPr marL="39558" marR="39558" marT="19779" marB="197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7014767"/>
                  </a:ext>
                </a:extLst>
              </a:tr>
            </a:tbl>
          </a:graphicData>
        </a:graphic>
      </p:graphicFrame>
    </p:spTree>
    <p:extLst>
      <p:ext uri="{BB962C8B-B14F-4D97-AF65-F5344CB8AC3E}">
        <p14:creationId xmlns:p14="http://schemas.microsoft.com/office/powerpoint/2010/main" val="76328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EA264433-B4C6-4B6F-8044-0CF3A2DF53DD}"/>
              </a:ext>
            </a:extLst>
          </p:cNvPr>
          <p:cNvGraphicFramePr>
            <a:graphicFrameLocks noGrp="1"/>
          </p:cNvGraphicFramePr>
          <p:nvPr/>
        </p:nvGraphicFramePr>
        <p:xfrm>
          <a:off x="838200" y="3605054"/>
          <a:ext cx="10515600" cy="2926080"/>
        </p:xfrm>
        <a:graphic>
          <a:graphicData uri="http://schemas.openxmlformats.org/drawingml/2006/table">
            <a:tbl>
              <a:tblPr/>
              <a:tblGrid>
                <a:gridCol w="2628900">
                  <a:extLst>
                    <a:ext uri="{9D8B030D-6E8A-4147-A177-3AD203B41FA5}">
                      <a16:colId xmlns:a16="http://schemas.microsoft.com/office/drawing/2014/main" val="615248323"/>
                    </a:ext>
                  </a:extLst>
                </a:gridCol>
                <a:gridCol w="2628900">
                  <a:extLst>
                    <a:ext uri="{9D8B030D-6E8A-4147-A177-3AD203B41FA5}">
                      <a16:colId xmlns:a16="http://schemas.microsoft.com/office/drawing/2014/main" val="1147213584"/>
                    </a:ext>
                  </a:extLst>
                </a:gridCol>
                <a:gridCol w="2628900">
                  <a:extLst>
                    <a:ext uri="{9D8B030D-6E8A-4147-A177-3AD203B41FA5}">
                      <a16:colId xmlns:a16="http://schemas.microsoft.com/office/drawing/2014/main" val="2695380501"/>
                    </a:ext>
                  </a:extLst>
                </a:gridCol>
                <a:gridCol w="2628900">
                  <a:extLst>
                    <a:ext uri="{9D8B030D-6E8A-4147-A177-3AD203B41FA5}">
                      <a16:colId xmlns:a16="http://schemas.microsoft.com/office/drawing/2014/main" val="2274233418"/>
                    </a:ext>
                  </a:extLst>
                </a:gridCol>
              </a:tblGrid>
              <a:tr h="0">
                <a:tc>
                  <a:txBody>
                    <a:bodyPr/>
                    <a:lstStyle/>
                    <a:p>
                      <a:r>
                        <a:rPr lang="en-US" dirty="0"/>
                        <a:t>KPI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ko-KR" altLang="en-US" dirty="0"/>
                        <a:t>기존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ko-KR" altLang="en-US" dirty="0"/>
                        <a:t>개선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ko-KR" altLang="en-US" dirty="0"/>
                        <a:t>변화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502694511"/>
                  </a:ext>
                </a:extLst>
              </a:tr>
              <a:tr h="0">
                <a:tc>
                  <a:txBody>
                    <a:bodyPr/>
                    <a:lstStyle/>
                    <a:p>
                      <a:r>
                        <a:rPr lang="ko-KR" altLang="en-US"/>
                        <a:t>입력 토큰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8,533.5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7,329.5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b="1"/>
                        <a:t>-14.11%</a:t>
                      </a:r>
                      <a:endParaRPr lang="ko-KR"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2540634"/>
                  </a:ext>
                </a:extLst>
              </a:tr>
              <a:tr h="0">
                <a:tc>
                  <a:txBody>
                    <a:bodyPr/>
                    <a:lstStyle/>
                    <a:p>
                      <a:r>
                        <a:rPr lang="ko-KR" altLang="en-US"/>
                        <a:t>출력 토큰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255.0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121.5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b="1"/>
                        <a:t>-52.35%</a:t>
                      </a:r>
                      <a:endParaRPr lang="ko-KR"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564769"/>
                  </a:ext>
                </a:extLst>
              </a:tr>
              <a:tr h="0">
                <a:tc>
                  <a:txBody>
                    <a:bodyPr/>
                    <a:lstStyle/>
                    <a:p>
                      <a:r>
                        <a:rPr lang="en-US"/>
                        <a:t>LLM </a:t>
                      </a:r>
                      <a:r>
                        <a:rPr lang="ko-KR" altLang="en-US"/>
                        <a:t>호출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7</a:t>
                      </a:r>
                      <a:r>
                        <a:rPr lang="ko-KR" altLang="en-US"/>
                        <a:t>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2</a:t>
                      </a:r>
                      <a:r>
                        <a:rPr lang="ko-KR" altLang="en-US"/>
                        <a:t>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b="1"/>
                        <a:t>-71.43%</a:t>
                      </a:r>
                      <a:endParaRPr lang="ko-KR"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5365657"/>
                  </a:ext>
                </a:extLst>
              </a:tr>
              <a:tr h="0">
                <a:tc>
                  <a:txBody>
                    <a:bodyPr/>
                    <a:lstStyle/>
                    <a:p>
                      <a:r>
                        <a:rPr lang="ko-KR" altLang="en-US"/>
                        <a:t>실행 비용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$0.00143265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$0.00119168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b="1"/>
                        <a:t>-16.82%</a:t>
                      </a:r>
                      <a:endParaRPr lang="ko-KR"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3552"/>
                  </a:ext>
                </a:extLst>
              </a:tr>
              <a:tr h="0">
                <a:tc>
                  <a:txBody>
                    <a:bodyPr/>
                    <a:lstStyle/>
                    <a:p>
                      <a:r>
                        <a:rPr lang="ko-KR" altLang="en-US"/>
                        <a:t>처리시간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13.151</a:t>
                      </a:r>
                      <a:r>
                        <a:rPr lang="ko-KR" altLang="en-US"/>
                        <a:t>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4.665</a:t>
                      </a:r>
                      <a:r>
                        <a:rPr lang="ko-KR" altLang="en-US"/>
                        <a:t>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b="1"/>
                        <a:t>-64.53%</a:t>
                      </a:r>
                      <a:endParaRPr lang="ko-KR"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5088029"/>
                  </a:ext>
                </a:extLst>
              </a:tr>
              <a:tr h="0">
                <a:tc>
                  <a:txBody>
                    <a:bodyPr/>
                    <a:lstStyle/>
                    <a:p>
                      <a:r>
                        <a:rPr lang="ko-KR" altLang="en-US"/>
                        <a:t>공고 오탐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1</a:t>
                      </a:r>
                      <a:r>
                        <a:rPr lang="ko-KR" altLang="en-US"/>
                        <a:t>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0</a:t>
                      </a:r>
                      <a:r>
                        <a:rPr lang="ko-KR" altLang="en-US"/>
                        <a:t>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제거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226022"/>
                  </a:ext>
                </a:extLst>
              </a:tr>
              <a:tr h="0">
                <a:tc>
                  <a:txBody>
                    <a:bodyPr/>
                    <a:lstStyle/>
                    <a:p>
                      <a:r>
                        <a:rPr lang="ko-KR" altLang="en-US"/>
                        <a:t>운영 </a:t>
                      </a:r>
                      <a:r>
                        <a:rPr lang="en-US"/>
                        <a:t>DB </a:t>
                      </a:r>
                      <a:r>
                        <a:rPr lang="ko-KR" altLang="en-US"/>
                        <a:t>쓰기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dirty="0"/>
                        <a:t>모두 통과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9063241"/>
                  </a:ext>
                </a:extLst>
              </a:tr>
            </a:tbl>
          </a:graphicData>
        </a:graphic>
      </p:graphicFrame>
      <p:sp>
        <p:nvSpPr>
          <p:cNvPr id="13" name="TextBox 12">
            <a:extLst>
              <a:ext uri="{FF2B5EF4-FFF2-40B4-BE49-F238E27FC236}">
                <a16:creationId xmlns:a16="http://schemas.microsoft.com/office/drawing/2014/main" id="{EE77823D-2E1D-4C57-BDA1-6B62329D447D}"/>
              </a:ext>
            </a:extLst>
          </p:cNvPr>
          <p:cNvSpPr txBox="1"/>
          <p:nvPr/>
        </p:nvSpPr>
        <p:spPr>
          <a:xfrm>
            <a:off x="6927889" y="2237283"/>
            <a:ext cx="6096000"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경험 사실 재현율: 66.667% → </a:t>
            </a:r>
            <a:r>
              <a:rPr kumimoji="0" lang="ko-KR" altLang="ko-KR" sz="1000" b="1" i="0" u="none" strike="noStrike" cap="none" normalizeH="0" baseline="0" dirty="0">
                <a:ln>
                  <a:noFill/>
                </a:ln>
                <a:solidFill>
                  <a:schemeClr val="tx1"/>
                </a:solidFill>
                <a:effectLst/>
                <a:latin typeface="Arial" panose="020B0604020202020204" pitchFamily="34" charset="0"/>
              </a:rPr>
              <a:t>100%</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문맥 의존 사실 재현율: 0% → </a:t>
            </a:r>
            <a:r>
              <a:rPr kumimoji="0" lang="ko-KR" altLang="ko-KR" sz="1000" b="1" i="0" u="none" strike="noStrike" cap="none" normalizeH="0" baseline="0" dirty="0">
                <a:ln>
                  <a:noFill/>
                </a:ln>
                <a:solidFill>
                  <a:schemeClr val="tx1"/>
                </a:solidFill>
                <a:effectLst/>
                <a:latin typeface="Arial" panose="020B0604020202020204" pitchFamily="34" charset="0"/>
              </a:rPr>
              <a:t>100%</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공고 요구사항 재현율: 50% → </a:t>
            </a:r>
            <a:r>
              <a:rPr kumimoji="0" lang="ko-KR" altLang="ko-KR" sz="1000" b="1" i="0" u="none" strike="noStrike" cap="none" normalizeH="0" baseline="0" dirty="0">
                <a:ln>
                  <a:noFill/>
                </a:ln>
                <a:solidFill>
                  <a:schemeClr val="tx1"/>
                </a:solidFill>
                <a:effectLst/>
                <a:latin typeface="Arial" panose="020B0604020202020204" pitchFamily="34" charset="0"/>
              </a:rPr>
              <a:t>100%</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정확 인용 유효성: </a:t>
            </a:r>
            <a:r>
              <a:rPr kumimoji="0" lang="ko-KR" altLang="ko-KR" sz="1000" b="1" i="0" u="none" strike="noStrike" cap="none" normalizeH="0" baseline="0" dirty="0">
                <a:ln>
                  <a:noFill/>
                </a:ln>
                <a:solidFill>
                  <a:schemeClr val="tx1"/>
                </a:solidFill>
                <a:effectLst/>
                <a:latin typeface="Arial" panose="020B0604020202020204" pitchFamily="34" charset="0"/>
              </a:rPr>
              <a:t>100% 유지</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AI 답변 오염률: </a:t>
            </a:r>
            <a:r>
              <a:rPr kumimoji="0" lang="ko-KR" altLang="ko-KR" sz="1000" b="1" i="0" u="none" strike="noStrike" cap="none" normalizeH="0" baseline="0" dirty="0">
                <a:ln>
                  <a:noFill/>
                </a:ln>
                <a:solidFill>
                  <a:schemeClr val="tx1"/>
                </a:solidFill>
                <a:effectLst/>
                <a:latin typeface="Arial" panose="020B0604020202020204" pitchFamily="34" charset="0"/>
              </a:rPr>
              <a:t>0%</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무관 대화 누출률: </a:t>
            </a:r>
            <a:r>
              <a:rPr kumimoji="0" lang="ko-KR" altLang="ko-KR" sz="1000" b="1" i="0" u="none" strike="noStrike" cap="none" normalizeH="0" baseline="0" dirty="0">
                <a:ln>
                  <a:noFill/>
                </a:ln>
                <a:solidFill>
                  <a:schemeClr val="tx1"/>
                </a:solidFill>
                <a:effectLst/>
                <a:latin typeface="Arial" panose="020B0604020202020204" pitchFamily="34" charset="0"/>
              </a:rPr>
              <a:t>0%</a:t>
            </a:r>
            <a:r>
              <a:rPr kumimoji="0" lang="ko-KR" altLang="ko-KR" sz="1000" b="0" i="0" u="none" strike="noStrike" cap="none" normalizeH="0" baseline="0" dirty="0">
                <a:ln>
                  <a:noFill/>
                </a:ln>
                <a:solidFill>
                  <a:schemeClr val="tx1"/>
                </a:solidFill>
                <a:effectLst/>
                <a:latin typeface="Arial" panose="020B0604020202020204" pitchFamily="34" charset="0"/>
              </a:rPr>
              <a:t> </a:t>
            </a:r>
          </a:p>
        </p:txBody>
      </p:sp>
      <p:sp>
        <p:nvSpPr>
          <p:cNvPr id="16" name="TextBox 15">
            <a:extLst>
              <a:ext uri="{FF2B5EF4-FFF2-40B4-BE49-F238E27FC236}">
                <a16:creationId xmlns:a16="http://schemas.microsoft.com/office/drawing/2014/main" id="{9891B273-C055-4C0E-9BFB-2077BCAB4057}"/>
              </a:ext>
            </a:extLst>
          </p:cNvPr>
          <p:cNvSpPr txBox="1"/>
          <p:nvPr/>
        </p:nvSpPr>
        <p:spPr>
          <a:xfrm>
            <a:off x="6927889" y="524090"/>
            <a:ext cx="6096000"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ko-KR" altLang="en-US" sz="1000" dirty="0">
                <a:highlight>
                  <a:srgbClr val="FFFF00"/>
                </a:highlight>
              </a:rPr>
              <a:t>구현된 핵심 구조</a:t>
            </a:r>
            <a:endParaRPr lang="en-US" altLang="ko-KR" sz="1000" dirty="0">
              <a:highlight>
                <a:srgbClr val="FFFF00"/>
              </a:highligh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LangGraph 분석 흐름에 Function Calling 기반 통합 라우터 적용</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경험·공고·혼합·무관·불확실 내용 분류</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사용자 원문 전체 보존</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AI 답변은 짧은 사용자 응답의 질문 문맥으로만 사용하고 증거로는 사용하지 않음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원문과 일치하지 않는 인용 자동 재요청</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단일 자격요건 문장을 완전한 채용공고로 저장하지 않는 안전장치</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운영 DB를 변경하지 않는 콜드 1회·반복 3회 벤치마크 실행기</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토큰·비용·단계별 시간·LLM 호출 횟수 계측 </a:t>
            </a:r>
          </a:p>
        </p:txBody>
      </p:sp>
      <p:sp>
        <p:nvSpPr>
          <p:cNvPr id="20" name="TextBox 19">
            <a:extLst>
              <a:ext uri="{FF2B5EF4-FFF2-40B4-BE49-F238E27FC236}">
                <a16:creationId xmlns:a16="http://schemas.microsoft.com/office/drawing/2014/main" id="{657079D6-8102-44D4-AF0C-02B69ED3453D}"/>
              </a:ext>
            </a:extLst>
          </p:cNvPr>
          <p:cNvSpPr txBox="1"/>
          <p:nvPr/>
        </p:nvSpPr>
        <p:spPr>
          <a:xfrm>
            <a:off x="407803" y="326866"/>
            <a:ext cx="6096000" cy="2862322"/>
          </a:xfrm>
          <a:prstGeom prst="rect">
            <a:avLst/>
          </a:prstGeom>
          <a:noFill/>
        </p:spPr>
        <p:txBody>
          <a:bodyPr wrap="square">
            <a:spAutoFit/>
          </a:bodyPr>
          <a:lstStyle/>
          <a:p>
            <a:r>
              <a:rPr lang="ko-KR" altLang="en-US" b="1" dirty="0"/>
              <a:t>핵심 개선 방향</a:t>
            </a:r>
          </a:p>
          <a:p>
            <a:r>
              <a:rPr lang="ko-KR" altLang="en-US" dirty="0"/>
              <a:t>기존 구조는 대화 전체를 여러 분석 단계에서 반복적으로 처리하면서</a:t>
            </a:r>
            <a:r>
              <a:rPr lang="en-US" altLang="ko-KR" dirty="0"/>
              <a:t>, AI </a:t>
            </a:r>
            <a:r>
              <a:rPr lang="ko-KR" altLang="en-US" dirty="0"/>
              <a:t>답변과 사용자 발화를 함께 증거처럼 사용하는 구조였습니다</a:t>
            </a:r>
            <a:r>
              <a:rPr lang="en-US" altLang="ko-KR" dirty="0"/>
              <a:t>. </a:t>
            </a:r>
            <a:r>
              <a:rPr lang="ko-KR" altLang="en-US" dirty="0"/>
              <a:t>이 때문에 </a:t>
            </a:r>
            <a:r>
              <a:rPr lang="ko-KR" altLang="en-US" dirty="0">
                <a:highlight>
                  <a:srgbClr val="FFFF00"/>
                </a:highlight>
              </a:rPr>
              <a:t>불필요한 </a:t>
            </a:r>
            <a:r>
              <a:rPr lang="en-US" altLang="ko-KR" dirty="0">
                <a:highlight>
                  <a:srgbClr val="FFFF00"/>
                </a:highlight>
              </a:rPr>
              <a:t>LLM </a:t>
            </a:r>
            <a:r>
              <a:rPr lang="ko-KR" altLang="en-US" dirty="0">
                <a:highlight>
                  <a:srgbClr val="FFFF00"/>
                </a:highlight>
              </a:rPr>
              <a:t>호출과 중복 공고 탐색이 발생했고</a:t>
            </a:r>
            <a:r>
              <a:rPr lang="en-US" altLang="ko-KR" dirty="0">
                <a:highlight>
                  <a:srgbClr val="FFFF00"/>
                </a:highlight>
              </a:rPr>
              <a:t>, </a:t>
            </a:r>
            <a:r>
              <a:rPr lang="ko-KR" altLang="en-US" dirty="0">
                <a:highlight>
                  <a:srgbClr val="FFFF00"/>
                </a:highlight>
              </a:rPr>
              <a:t>짧은 사용자 응답의 의미를 제대로 복원하지 못했습니다</a:t>
            </a:r>
            <a:r>
              <a:rPr lang="en-US" altLang="ko-KR" dirty="0"/>
              <a:t>.</a:t>
            </a:r>
          </a:p>
          <a:p>
            <a:endParaRPr lang="en-US" altLang="ko-KR" dirty="0"/>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0" i="0" u="none" strike="noStrike" cap="none" normalizeH="0" baseline="0" dirty="0">
                <a:ln>
                  <a:noFill/>
                </a:ln>
                <a:solidFill>
                  <a:schemeClr val="tx1"/>
                </a:solidFill>
                <a:effectLst/>
                <a:latin typeface="Arial" panose="020B0604020202020204" pitchFamily="34" charset="0"/>
              </a:rPr>
              <a:t>이를 다음 구조로 변경했습니다.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0" i="0" u="none" strike="noStrike" cap="none" normalizeH="0" baseline="0" dirty="0">
                <a:ln>
                  <a:noFill/>
                </a:ln>
                <a:solidFill>
                  <a:schemeClr val="tx1"/>
                </a:solidFill>
                <a:effectLst/>
                <a:highlight>
                  <a:srgbClr val="FFFF00"/>
                </a:highlight>
                <a:latin typeface="Arial" panose="020B0604020202020204" pitchFamily="34" charset="0"/>
              </a:rPr>
              <a:t>대화 전체 반복 분석 구조 → 콘텐츠 유형을 먼저 분류하고 필요한 분석만 수행하는 라우팅 구조</a:t>
            </a:r>
          </a:p>
        </p:txBody>
      </p:sp>
    </p:spTree>
    <p:extLst>
      <p:ext uri="{BB962C8B-B14F-4D97-AF65-F5344CB8AC3E}">
        <p14:creationId xmlns:p14="http://schemas.microsoft.com/office/powerpoint/2010/main" val="2902438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7A3F6CD-3817-4898-8D6B-43C5309102A5}"/>
              </a:ext>
            </a:extLst>
          </p:cNvPr>
          <p:cNvSpPr txBox="1"/>
          <p:nvPr/>
        </p:nvSpPr>
        <p:spPr>
          <a:xfrm>
            <a:off x="6096000" y="1628507"/>
            <a:ext cx="5445760" cy="36009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dirty="0">
                <a:ln>
                  <a:noFill/>
                </a:ln>
                <a:solidFill>
                  <a:schemeClr val="tx1"/>
                </a:solidFill>
                <a:effectLst/>
                <a:latin typeface="Arial" panose="020B0604020202020204" pitchFamily="34" charset="0"/>
              </a:rPr>
              <a:t>2. 문맥 의존 사실 재현율</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문맥 의존 사실은 앞뒤 대화를 함께 봐야 해석할 수 있는 사실입니다.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이번 정답 세트에서는 사용자가 </a:t>
            </a:r>
            <a:r>
              <a:rPr kumimoji="0" lang="ko-KR" altLang="ko-KR" sz="1200" b="0" i="0" u="none" strike="noStrike" cap="none" normalizeH="0" baseline="0" dirty="0">
                <a:ln>
                  <a:noFill/>
                </a:ln>
                <a:solidFill>
                  <a:schemeClr val="tx1"/>
                </a:solidFill>
                <a:effectLst/>
                <a:latin typeface="Arial Unicode MS"/>
              </a:rPr>
              <a:t>"12%"</a:t>
            </a:r>
            <a:r>
              <a:rPr kumimoji="0" lang="ko-KR" altLang="ko-KR" sz="1200" b="0" i="0" u="none" strike="noStrike" cap="none" normalizeH="0" baseline="0" dirty="0">
                <a:ln>
                  <a:noFill/>
                </a:ln>
                <a:solidFill>
                  <a:schemeClr val="tx1"/>
                </a:solidFill>
                <a:effectLst/>
              </a:rPr>
              <a:t>라고 짧게만 답한 메시지가 해당됩니다. 앞선 AI 질문을 참고해야 이것이 가입 전환율 12%라는 사실로 해석됩니다.</a:t>
            </a:r>
            <a:endParaRPr kumimoji="0" lang="ko-KR"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평가식은 다음과 같습니다.</a:t>
            </a:r>
            <a:endParaRPr kumimoji="0" lang="ko-KR" altLang="ko-KR" sz="12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Unicode MS"/>
              </a:rPr>
              <a:t>문맥 의존 사실 재현율 = 재현된 문맥 의존 사실 수 / 전체 문맥 의존 사실 수 × 100</a:t>
            </a:r>
            <a:endParaRPr kumimoji="0" lang="ko-KR" altLang="ko-KR"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문맥 의존 사실은 총 1개였습니다.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기존 버전:</a:t>
            </a:r>
            <a:endParaRPr kumimoji="0" lang="ko-KR" altLang="ko-KR" sz="12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Unicode MS"/>
              </a:rPr>
              <a:t>0 / 1 × 100 = 0%</a:t>
            </a:r>
            <a:endParaRPr kumimoji="0" lang="ko-KR" altLang="ko-KR"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개선 버전:</a:t>
            </a:r>
            <a:endParaRPr kumimoji="0" lang="ko-KR" altLang="ko-KR" sz="12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Unicode MS"/>
              </a:rPr>
              <a:t>1 / 1 × 100 = 100%</a:t>
            </a:r>
            <a:endParaRPr kumimoji="0" lang="ko-KR" altLang="ko-KR"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이 결과는 AI 답변을 사실의 근거로 저장했다는 의미가 아닙니다. 개선 버전은 AI 답변을 짧은 사용자 응답을 해석하기 위한 질문 문맥으로만 사용하고, 실제 증거와 인용은 사용자 원문에서 가져오도록 변경되었습니다.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포트폴리오에는 다음처럼 쓰는 것이 정확합니다.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기존 구조는 </a:t>
            </a:r>
            <a:r>
              <a:rPr kumimoji="0" lang="ko-KR" altLang="ko-KR" sz="1200" b="0" i="0" u="none" strike="noStrike" cap="none" normalizeH="0" baseline="0" dirty="0">
                <a:ln>
                  <a:noFill/>
                </a:ln>
                <a:solidFill>
                  <a:schemeClr val="tx1"/>
                </a:solidFill>
                <a:effectLst/>
                <a:latin typeface="Arial Unicode MS"/>
              </a:rPr>
              <a:t>"12%"</a:t>
            </a:r>
            <a:r>
              <a:rPr kumimoji="0" lang="ko-KR" altLang="ko-KR" sz="1200" b="0" i="0" u="none" strike="noStrike" cap="none" normalizeH="0" baseline="0" dirty="0">
                <a:ln>
                  <a:noFill/>
                </a:ln>
                <a:solidFill>
                  <a:schemeClr val="tx1"/>
                </a:solidFill>
                <a:effectLst/>
              </a:rPr>
              <a:t>와 같은 짧은 응답을 독립적인 사실로 복원하지 못했으나, 개선 구조에서는 직전 질문 문맥을 해석에만 활용하고 사용자 원문에서 근거를 찾아 문맥 의존 사실 재현율을 0%에서 100%로 개선했다.</a:t>
            </a:r>
            <a:endParaRPr kumimoji="0" lang="ko-KR" altLang="ko-KR" sz="12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749888B-3231-4A26-8628-C67B8B28916C}"/>
              </a:ext>
            </a:extLst>
          </p:cNvPr>
          <p:cNvSpPr txBox="1"/>
          <p:nvPr/>
        </p:nvSpPr>
        <p:spPr>
          <a:xfrm>
            <a:off x="365760" y="1628507"/>
            <a:ext cx="5445760" cy="31700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dirty="0">
                <a:ln>
                  <a:noFill/>
                </a:ln>
                <a:solidFill>
                  <a:schemeClr val="tx1"/>
                </a:solidFill>
                <a:effectLst/>
                <a:latin typeface="Arial" panose="020B0604020202020204" pitchFamily="34" charset="0"/>
              </a:rPr>
              <a:t>1. 경험 사실 재현율</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평가 로직은 정답 세트에 정의된 경험 사실별 필수 키워드가 분석 결과의 </a:t>
            </a:r>
            <a:r>
              <a:rPr kumimoji="0" lang="ko-KR" altLang="ko-KR" sz="1000" b="0" i="0" u="none" strike="noStrike" cap="none" normalizeH="0" baseline="0" dirty="0">
                <a:ln>
                  <a:noFill/>
                </a:ln>
                <a:solidFill>
                  <a:schemeClr val="tx1"/>
                </a:solidFill>
                <a:effectLst/>
                <a:latin typeface="Arial Unicode MS"/>
              </a:rPr>
              <a:t>experience_drafts</a:t>
            </a:r>
            <a:r>
              <a:rPr kumimoji="0" lang="ko-KR" altLang="ko-KR" sz="1000" b="0" i="0" u="none" strike="noStrike" cap="none" normalizeH="0" baseline="0" dirty="0">
                <a:ln>
                  <a:noFill/>
                </a:ln>
                <a:solidFill>
                  <a:schemeClr val="tx1"/>
                </a:solidFill>
                <a:effectLst/>
              </a:rPr>
              <a:t> 안에 모두 포함되어 있는지 확인합니다.</a:t>
            </a:r>
            <a:endParaRPr kumimoji="0" lang="en-US"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경험 사실 재현율 = 재현된 경험 사실 수 / 전체 정답 경험 사실 수 × 100</a:t>
            </a: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정답 경험 사실은 총 3개입니다.</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결제 이탈 및 결제 단계 개선</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가입 전환율 12%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API 응답 시간 35% 단축</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기존 버전에서는 매 실행마다 3개 중 2개만 재현했습니다.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2 / 3 × 100 = 66.667%</a:t>
            </a:r>
            <a:endParaRPr kumimoji="0" lang="en-US"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개선 버전에서는 4회 모두 3개를 모두 재현했습니다.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3 / 3 × 100 = 100%</a:t>
            </a:r>
            <a:endParaRPr kumimoji="0" lang="en-US"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따라서 다음과 같이 기록할 수 있습니다.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정답 세트의 경험 사실 3개 중 기존 구조는 평균 2개만 재현했으나, 개선 구조에서는 3개를 모두 재현하여 경험 사실 재현율을 66.667%에서 100%로 향상시켰다.</a:t>
            </a:r>
          </a:p>
        </p:txBody>
      </p:sp>
    </p:spTree>
    <p:extLst>
      <p:ext uri="{BB962C8B-B14F-4D97-AF65-F5344CB8AC3E}">
        <p14:creationId xmlns:p14="http://schemas.microsoft.com/office/powerpoint/2010/main" val="2946159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324EE1E-A01B-40F2-A605-A546DF9C8C06}"/>
              </a:ext>
            </a:extLst>
          </p:cNvPr>
          <p:cNvSpPr txBox="1"/>
          <p:nvPr/>
        </p:nvSpPr>
        <p:spPr>
          <a:xfrm>
            <a:off x="5943600" y="5562392"/>
            <a:ext cx="6096000"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ko-KR" altLang="en-US" sz="1000" dirty="0"/>
              <a:t>동일한 합성 한국어 대화와 정답 세트를 대상으로 콜드 </a:t>
            </a:r>
            <a:r>
              <a:rPr lang="en-US" altLang="ko-KR" sz="1000" dirty="0"/>
              <a:t>1</a:t>
            </a:r>
            <a:r>
              <a:rPr lang="ko-KR" altLang="en-US" sz="1000" dirty="0"/>
              <a:t>회와 반복 </a:t>
            </a:r>
            <a:r>
              <a:rPr lang="en-US" altLang="ko-KR" sz="1000" dirty="0"/>
              <a:t>3</a:t>
            </a:r>
            <a:r>
              <a:rPr lang="ko-KR" altLang="en-US" sz="1000" dirty="0"/>
              <a:t>회</a:t>
            </a:r>
            <a:r>
              <a:rPr lang="en-US" altLang="ko-KR" sz="1000" dirty="0"/>
              <a:t>, </a:t>
            </a:r>
            <a:r>
              <a:rPr lang="ko-KR" altLang="en-US" sz="1000" dirty="0"/>
              <a:t>총 </a:t>
            </a:r>
            <a:r>
              <a:rPr lang="en-US" altLang="ko-KR" sz="1000" dirty="0"/>
              <a:t>4</a:t>
            </a:r>
            <a:r>
              <a:rPr lang="ko-KR" altLang="en-US" sz="1000" dirty="0"/>
              <a:t>회의 자동 평가를 수행했다</a:t>
            </a:r>
            <a:r>
              <a:rPr lang="en-US" altLang="ko-KR" sz="1000" dirty="0"/>
              <a:t>. </a:t>
            </a:r>
            <a:r>
              <a:rPr lang="ko-KR" altLang="en-US" sz="1000" dirty="0"/>
              <a:t>경험 사실 </a:t>
            </a:r>
            <a:r>
              <a:rPr lang="en-US" altLang="ko-KR" sz="1000" dirty="0"/>
              <a:t>3</a:t>
            </a:r>
            <a:r>
              <a:rPr lang="ko-KR" altLang="en-US" sz="1000" dirty="0"/>
              <a:t>개 중 기존 구조는 평균 </a:t>
            </a:r>
            <a:r>
              <a:rPr lang="en-US" altLang="ko-KR" sz="1000" dirty="0"/>
              <a:t>2</a:t>
            </a:r>
            <a:r>
              <a:rPr lang="ko-KR" altLang="en-US" sz="1000" dirty="0"/>
              <a:t>개만 재현해 재현율이 </a:t>
            </a:r>
            <a:r>
              <a:rPr lang="en-US" altLang="ko-KR" sz="1000" dirty="0"/>
              <a:t>66.667%</a:t>
            </a:r>
            <a:r>
              <a:rPr lang="ko-KR" altLang="en-US" sz="1000" dirty="0"/>
              <a:t>였으나</a:t>
            </a:r>
            <a:r>
              <a:rPr lang="en-US" altLang="ko-KR" sz="1000" dirty="0"/>
              <a:t>, </a:t>
            </a:r>
            <a:r>
              <a:rPr lang="ko-KR" altLang="en-US" sz="1000" dirty="0"/>
              <a:t>개선 구조는 </a:t>
            </a:r>
            <a:r>
              <a:rPr lang="en-US" altLang="ko-KR" sz="1000" dirty="0"/>
              <a:t>3</a:t>
            </a:r>
            <a:r>
              <a:rPr lang="ko-KR" altLang="en-US" sz="1000" dirty="0"/>
              <a:t>개를 모두 재현해 </a:t>
            </a:r>
            <a:r>
              <a:rPr lang="en-US" altLang="ko-KR" sz="1000" dirty="0"/>
              <a:t>100%</a:t>
            </a:r>
            <a:r>
              <a:rPr lang="ko-KR" altLang="en-US" sz="1000" dirty="0"/>
              <a:t>를 달성했다</a:t>
            </a:r>
            <a:r>
              <a:rPr lang="en-US" altLang="ko-KR" sz="1000" dirty="0"/>
              <a:t>. </a:t>
            </a:r>
            <a:r>
              <a:rPr lang="ko-KR" altLang="en-US" sz="1000" dirty="0"/>
              <a:t>특히 직전 질문 문맥이 필요한 </a:t>
            </a:r>
            <a:r>
              <a:rPr lang="en-US" altLang="ko-KR" sz="1000" dirty="0"/>
              <a:t>"12%" </a:t>
            </a:r>
            <a:r>
              <a:rPr lang="ko-KR" altLang="en-US" sz="1000" dirty="0"/>
              <a:t>응답의 사실 복원율은 </a:t>
            </a:r>
            <a:r>
              <a:rPr lang="en-US" altLang="ko-KR" sz="1000" dirty="0"/>
              <a:t>0%</a:t>
            </a:r>
            <a:r>
              <a:rPr lang="ko-KR" altLang="en-US" sz="1000" dirty="0"/>
              <a:t>에서 </a:t>
            </a:r>
            <a:r>
              <a:rPr lang="en-US" altLang="ko-KR" sz="1000" dirty="0"/>
              <a:t>100%</a:t>
            </a:r>
            <a:r>
              <a:rPr lang="ko-KR" altLang="en-US" sz="1000" dirty="0"/>
              <a:t>로 개선됐다</a:t>
            </a:r>
            <a:r>
              <a:rPr lang="en-US" altLang="ko-KR" sz="1000" dirty="0"/>
              <a:t>. </a:t>
            </a:r>
            <a:r>
              <a:rPr lang="ko-KR" altLang="en-US" sz="1000" dirty="0"/>
              <a:t>정답 공고의 핵심 요구사항 키워드 재현율도 </a:t>
            </a:r>
            <a:r>
              <a:rPr lang="en-US" altLang="ko-KR" sz="1000" dirty="0"/>
              <a:t>50%</a:t>
            </a:r>
            <a:r>
              <a:rPr lang="ko-KR" altLang="en-US" sz="1000" dirty="0"/>
              <a:t>에서 </a:t>
            </a:r>
            <a:r>
              <a:rPr lang="en-US" altLang="ko-KR" sz="1000" dirty="0"/>
              <a:t>100%</a:t>
            </a:r>
            <a:r>
              <a:rPr lang="ko-KR" altLang="en-US" sz="1000" dirty="0"/>
              <a:t>로 향상됐다</a:t>
            </a:r>
            <a:r>
              <a:rPr lang="en-US" altLang="ko-KR" sz="1000" dirty="0"/>
              <a:t>. </a:t>
            </a:r>
            <a:r>
              <a:rPr lang="ko-KR" altLang="en-US" sz="1000" dirty="0"/>
              <a:t>또한 모든 출력 인용은 사용자 원문과 일치해 정확 인용 유효성 </a:t>
            </a:r>
            <a:r>
              <a:rPr lang="en-US" altLang="ko-KR" sz="1000" dirty="0"/>
              <a:t>100%</a:t>
            </a:r>
            <a:r>
              <a:rPr lang="ko-KR" altLang="en-US" sz="1000" dirty="0"/>
              <a:t>를 유지했고</a:t>
            </a:r>
            <a:r>
              <a:rPr lang="en-US" altLang="ko-KR" sz="1000" dirty="0"/>
              <a:t>, AI </a:t>
            </a:r>
            <a:r>
              <a:rPr lang="ko-KR" altLang="en-US" sz="1000" dirty="0"/>
              <a:t>답변에서만 유래한 정보의 유입과 무관 대화의 경험 정보 누출은 </a:t>
            </a:r>
            <a:r>
              <a:rPr lang="en-US" altLang="ko-KR" sz="1000" dirty="0"/>
              <a:t>4</a:t>
            </a:r>
            <a:r>
              <a:rPr lang="ko-KR" altLang="en-US" sz="1000" dirty="0"/>
              <a:t>회 모두 발생하지 않아 각각 </a:t>
            </a:r>
            <a:r>
              <a:rPr lang="en-US" altLang="ko-KR" sz="1000" dirty="0"/>
              <a:t>0%</a:t>
            </a:r>
            <a:r>
              <a:rPr lang="ko-KR" altLang="en-US" sz="1000" dirty="0"/>
              <a:t>로 측정됐다</a:t>
            </a:r>
            <a:r>
              <a:rPr lang="en-US" altLang="ko-KR" sz="1000" dirty="0"/>
              <a:t>. </a:t>
            </a:r>
          </a:p>
        </p:txBody>
      </p:sp>
      <p:sp>
        <p:nvSpPr>
          <p:cNvPr id="10" name="TextBox 9">
            <a:extLst>
              <a:ext uri="{FF2B5EF4-FFF2-40B4-BE49-F238E27FC236}">
                <a16:creationId xmlns:a16="http://schemas.microsoft.com/office/drawing/2014/main" id="{ADBDB23A-AC0B-4BD1-B45D-5D114ED9A59D}"/>
              </a:ext>
            </a:extLst>
          </p:cNvPr>
          <p:cNvSpPr txBox="1"/>
          <p:nvPr/>
        </p:nvSpPr>
        <p:spPr>
          <a:xfrm>
            <a:off x="5943600" y="2997815"/>
            <a:ext cx="6096000"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dirty="0">
                <a:ln>
                  <a:noFill/>
                </a:ln>
                <a:solidFill>
                  <a:schemeClr val="tx1"/>
                </a:solidFill>
                <a:effectLst/>
                <a:latin typeface="Arial" panose="020B0604020202020204" pitchFamily="34" charset="0"/>
              </a:rPr>
              <a:t>6. 무관 대화 누출률</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정답 세트에는 경험이나 공고와 무관한 대화로 점심 메뉴 추천 요청이 포함되어 있습니다.</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이 내용이 경험 분석 결과에 들어가면 무관 대화 누출로 판정합니다.</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평가식은 다음과 같습니다.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무관 대화 누출률 = 무관 키워드가 포함된 실행 수 / 전체 실행 수 × 100</a:t>
            </a:r>
            <a:endParaRPr kumimoji="0" lang="en-US"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기존과 개선 버전 모두 무관 대화가 경험 분석 결과에 포함되지 않았습니다.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0 / 4 × 100 = 0%</a:t>
            </a:r>
            <a:r>
              <a:rPr kumimoji="0" lang="ko-KR" altLang="ko-KR" sz="1000" b="0" i="0" u="none" strike="noStrike" cap="none" normalizeH="0" baseline="0" dirty="0">
                <a:ln>
                  <a:noFill/>
                </a:ln>
                <a:solidFill>
                  <a:schemeClr val="tx1"/>
                </a:solidFill>
                <a:effectLst/>
              </a:rPr>
              <a:t> </a:t>
            </a:r>
            <a:endParaRPr kumimoji="0" lang="ko-KR" altLang="ko-KR" sz="1000" b="0" i="0" u="none" strike="noStrike" cap="none" normalizeH="0" baseline="0" dirty="0">
              <a:ln>
                <a:noFill/>
              </a:ln>
              <a:solidFill>
                <a:schemeClr val="tx1"/>
              </a:solidFill>
              <a:effectLst/>
              <a:latin typeface="Arial" panose="020B0604020202020204" pitchFamily="34" charset="0"/>
            </a:endParaRPr>
          </a:p>
          <a:p>
            <a:endParaRPr lang="en-US" altLang="ko-KR" sz="1000" dirty="0"/>
          </a:p>
          <a:p>
            <a:r>
              <a:rPr lang="ko-KR" altLang="en-US" sz="1000" dirty="0"/>
              <a:t>무관 대화로 정의된 점심 메뉴 관련 내용이 경험 분석 결과에 포함된 실행은 </a:t>
            </a:r>
            <a:r>
              <a:rPr lang="en-US" altLang="ko-KR" sz="1000" dirty="0"/>
              <a:t>4</a:t>
            </a:r>
            <a:r>
              <a:rPr lang="ko-KR" altLang="en-US" sz="1000" dirty="0"/>
              <a:t>회 중 </a:t>
            </a:r>
            <a:r>
              <a:rPr lang="en-US" altLang="ko-KR" sz="1000" dirty="0"/>
              <a:t>0</a:t>
            </a:r>
            <a:r>
              <a:rPr lang="ko-KR" altLang="en-US" sz="1000" dirty="0"/>
              <a:t>회였으며</a:t>
            </a:r>
            <a:r>
              <a:rPr lang="en-US" altLang="ko-KR" sz="1000" dirty="0"/>
              <a:t>, </a:t>
            </a:r>
            <a:r>
              <a:rPr lang="ko-KR" altLang="en-US" sz="1000" dirty="0"/>
              <a:t>무관 대화 누출률은 기존과 개선 구조 모두 </a:t>
            </a:r>
            <a:r>
              <a:rPr lang="en-US" altLang="ko-KR" sz="1000" dirty="0"/>
              <a:t>0%</a:t>
            </a:r>
            <a:r>
              <a:rPr lang="ko-KR" altLang="en-US" sz="1000" dirty="0"/>
              <a:t>였다</a:t>
            </a:r>
            <a:r>
              <a:rPr lang="en-US" altLang="ko-KR" sz="1000" dirty="0"/>
              <a:t>.</a:t>
            </a:r>
            <a:endParaRPr lang="ko-KR" altLang="en-US" sz="1000" dirty="0"/>
          </a:p>
        </p:txBody>
      </p:sp>
      <p:sp>
        <p:nvSpPr>
          <p:cNvPr id="13" name="TextBox 12">
            <a:extLst>
              <a:ext uri="{FF2B5EF4-FFF2-40B4-BE49-F238E27FC236}">
                <a16:creationId xmlns:a16="http://schemas.microsoft.com/office/drawing/2014/main" id="{0AFAFE33-4220-45C1-B6CD-E31BA8EAB8EE}"/>
              </a:ext>
            </a:extLst>
          </p:cNvPr>
          <p:cNvSpPr txBox="1"/>
          <p:nvPr/>
        </p:nvSpPr>
        <p:spPr>
          <a:xfrm>
            <a:off x="5943600" y="279945"/>
            <a:ext cx="6096000" cy="224676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dirty="0">
                <a:ln>
                  <a:noFill/>
                </a:ln>
                <a:solidFill>
                  <a:schemeClr val="tx1"/>
                </a:solidFill>
                <a:effectLst/>
                <a:latin typeface="Arial" panose="020B0604020202020204" pitchFamily="34" charset="0"/>
              </a:rPr>
              <a:t>5. AI 답변 오염률</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정답 세트에는 사용자 발화가 아니라 AI 답변에서만 등장하는 금지 정보가 정의되어 있습니다.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예를 들어 AI 답변에 포함된 매출 50%라는 내용은 사용자가 직접 말한 사실이 아니므로 경험 정보에 포함되면 안 됩니다.</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평가 로직은 분석 결과 전체에서 금지 키워드가 발견되는지를 검사합니다.</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AI 답변 오염률 = 금지 키워드가 포함된 실행 수 / 전체 실행 수 × 100</a:t>
            </a: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기존과 개선 버전 모두 4회 실행에서 금지 키워드가 한 번도 분석 결과에 포함되지 않았습니다.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0 / 4 × 100 = 0%</a:t>
            </a: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따라서 다음과 같이 설명할 수 있습니다.</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AI 답변에만 존재하는 금지 정보가 사용자 경험 사실로 유입된 실행이 4회 중 0회였으므로, AI 답변 오염률은 0%로 측정되었다.</a:t>
            </a:r>
          </a:p>
        </p:txBody>
      </p:sp>
      <p:sp>
        <p:nvSpPr>
          <p:cNvPr id="17" name="TextBox 16">
            <a:extLst>
              <a:ext uri="{FF2B5EF4-FFF2-40B4-BE49-F238E27FC236}">
                <a16:creationId xmlns:a16="http://schemas.microsoft.com/office/drawing/2014/main" id="{398B95AB-A801-45CF-BA01-AE1D74A1FE3D}"/>
              </a:ext>
            </a:extLst>
          </p:cNvPr>
          <p:cNvSpPr txBox="1"/>
          <p:nvPr/>
        </p:nvSpPr>
        <p:spPr>
          <a:xfrm>
            <a:off x="152400" y="3712686"/>
            <a:ext cx="5679440" cy="31700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dirty="0">
                <a:ln>
                  <a:noFill/>
                </a:ln>
                <a:solidFill>
                  <a:schemeClr val="tx1"/>
                </a:solidFill>
                <a:effectLst/>
                <a:latin typeface="Arial" panose="020B0604020202020204" pitchFamily="34" charset="0"/>
              </a:rPr>
              <a:t>4. 정확 인용 유효성</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이 지표는 정답 사실을 얼마나 많이 인용했는지가 아니라, </a:t>
            </a:r>
            <a:r>
              <a:rPr kumimoji="0" lang="ko-KR" altLang="ko-KR" sz="1000" b="0" i="0" u="none" strike="noStrike" cap="none" normalizeH="0" baseline="0" dirty="0">
                <a:ln>
                  <a:noFill/>
                </a:ln>
                <a:solidFill>
                  <a:schemeClr val="tx1"/>
                </a:solidFill>
                <a:effectLst/>
                <a:highlight>
                  <a:srgbClr val="FFFF00"/>
                </a:highlight>
                <a:latin typeface="Arial" panose="020B0604020202020204" pitchFamily="34" charset="0"/>
              </a:rPr>
              <a:t>출력된 인용이 실제 사용자 원문과 정확히 일치하는지를 검증</a:t>
            </a:r>
            <a:r>
              <a:rPr kumimoji="0" lang="ko-KR" altLang="ko-KR" sz="1000" b="0" i="0" u="none" strike="noStrike" cap="none" normalizeH="0" baseline="0" dirty="0">
                <a:ln>
                  <a:noFill/>
                </a:ln>
                <a:solidFill>
                  <a:schemeClr val="tx1"/>
                </a:solidFill>
                <a:effectLst/>
                <a:latin typeface="Arial" panose="020B0604020202020204" pitchFamily="34" charset="0"/>
              </a:rPr>
              <a:t>합니다.</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평가 조건은 다음과 같습니다.</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ko-KR" altLang="ko-KR" sz="1000" b="0" i="0" u="none" strike="noStrike" cap="none" normalizeH="0" baseline="0" dirty="0">
                <a:ln>
                  <a:noFill/>
                </a:ln>
                <a:solidFill>
                  <a:schemeClr val="tx1"/>
                </a:solidFill>
                <a:effectLst/>
                <a:latin typeface="Arial" panose="020B0604020202020204" pitchFamily="34" charset="0"/>
              </a:rPr>
              <a:t>인용한 </a:t>
            </a:r>
            <a:r>
              <a:rPr kumimoji="0" lang="ko-KR" altLang="ko-KR" sz="1000" b="0" i="0" u="none" strike="noStrike" cap="none" normalizeH="0" baseline="0" dirty="0">
                <a:ln>
                  <a:noFill/>
                </a:ln>
                <a:solidFill>
                  <a:schemeClr val="tx1"/>
                </a:solidFill>
                <a:effectLst/>
                <a:latin typeface="Arial Unicode MS"/>
              </a:rPr>
              <a:t>source_ref_id</a:t>
            </a:r>
            <a:r>
              <a:rPr kumimoji="0" lang="ko-KR" altLang="ko-KR" sz="1000" b="0" i="0" u="none" strike="noStrike" cap="none" normalizeH="0" baseline="0" dirty="0">
                <a:ln>
                  <a:noFill/>
                </a:ln>
                <a:solidFill>
                  <a:schemeClr val="tx1"/>
                </a:solidFill>
                <a:effectLst/>
              </a:rPr>
              <a:t>가 실제 메시지를 가리키는가</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ko-KR" altLang="ko-KR" sz="1000" b="0" i="0" u="none" strike="noStrike" cap="none" normalizeH="0" baseline="0" dirty="0">
                <a:ln>
                  <a:noFill/>
                </a:ln>
                <a:solidFill>
                  <a:schemeClr val="tx1"/>
                </a:solidFill>
                <a:effectLst/>
                <a:latin typeface="Arial" panose="020B0604020202020204" pitchFamily="34" charset="0"/>
              </a:rPr>
              <a:t>해당 메시지의 역할이 </a:t>
            </a:r>
            <a:r>
              <a:rPr kumimoji="0" lang="ko-KR" altLang="ko-KR" sz="1000" b="0" i="0" u="none" strike="noStrike" cap="none" normalizeH="0" baseline="0" dirty="0">
                <a:ln>
                  <a:noFill/>
                </a:ln>
                <a:solidFill>
                  <a:schemeClr val="tx1"/>
                </a:solidFill>
                <a:effectLst/>
                <a:latin typeface="Arial Unicode MS"/>
              </a:rPr>
              <a:t>user</a:t>
            </a:r>
            <a:r>
              <a:rPr kumimoji="0" lang="ko-KR" altLang="ko-KR" sz="1000" b="0" i="0" u="none" strike="noStrike" cap="none" normalizeH="0" baseline="0" dirty="0">
                <a:ln>
                  <a:noFill/>
                </a:ln>
                <a:solidFill>
                  <a:schemeClr val="tx1"/>
                </a:solidFill>
                <a:effectLst/>
              </a:rPr>
              <a:t>인가</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ko-KR" altLang="ko-KR" sz="1000" b="0" i="0" u="none" strike="noStrike" cap="none" normalizeH="0" baseline="0" dirty="0">
                <a:ln>
                  <a:noFill/>
                </a:ln>
                <a:solidFill>
                  <a:schemeClr val="tx1"/>
                </a:solidFill>
                <a:effectLst/>
                <a:latin typeface="Arial" panose="020B0604020202020204" pitchFamily="34" charset="0"/>
              </a:rPr>
              <a:t>인용문이 실제 사용자 메시지의 연속 문자열로 존재하는가</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평가식은 다음과 같습니다.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정확 인용 유효성 = 유효한 인용 수 / 출력된 전체 인용 수 × 100</a:t>
            </a: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기존과 개선 버전 모두 출력된 인용은 전부 사용자 원문에 존재하는 정확한 인용이었습니다.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유효 인용 수 / 전체 인용 수 = 100%</a:t>
            </a: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따라서 </a:t>
            </a:r>
            <a:r>
              <a:rPr kumimoji="0" lang="ko-KR" altLang="ko-KR" sz="1000" b="0" i="0" u="none" strike="noStrike" cap="none" normalizeH="0" baseline="0" dirty="0">
                <a:ln>
                  <a:noFill/>
                </a:ln>
                <a:solidFill>
                  <a:schemeClr val="tx1"/>
                </a:solidFill>
                <a:effectLst/>
                <a:highlight>
                  <a:srgbClr val="FFFF00"/>
                </a:highlight>
                <a:latin typeface="Arial" panose="020B0604020202020204" pitchFamily="34" charset="0"/>
              </a:rPr>
              <a:t>기존의 100%는 유지되었고, 개선 버전에서는 여기에 더해 문맥 의존 사실과 인용 검증까지 강화되었습니다.</a:t>
            </a:r>
            <a:endParaRPr kumimoji="0" lang="en-US" altLang="ko-KR" sz="1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중요한 차이는 다음과 같습니다.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highlight>
                  <a:srgbClr val="FFFF00"/>
                </a:highlight>
                <a:latin typeface="Arial" panose="020B0604020202020204" pitchFamily="34" charset="0"/>
              </a:rPr>
              <a:t>정확 인용 유효성 100%: 출력한 인용은 모두 진짜 원문 인용이었다는 뜻</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highlight>
                  <a:srgbClr val="FFFF00"/>
                </a:highlight>
                <a:latin typeface="Arial" panose="020B0604020202020204" pitchFamily="34" charset="0"/>
              </a:rPr>
              <a:t>기대 원문 인용 커버리지: 정답 사실에 필요한 원문 출처를 얼마나 빠짐없이 인용했는지</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p:txBody>
      </p:sp>
      <p:sp>
        <p:nvSpPr>
          <p:cNvPr id="20" name="TextBox 19">
            <a:extLst>
              <a:ext uri="{FF2B5EF4-FFF2-40B4-BE49-F238E27FC236}">
                <a16:creationId xmlns:a16="http://schemas.microsoft.com/office/drawing/2014/main" id="{8C0DF7E6-7B88-4A94-8265-D6C30A23836B}"/>
              </a:ext>
            </a:extLst>
          </p:cNvPr>
          <p:cNvSpPr txBox="1"/>
          <p:nvPr/>
        </p:nvSpPr>
        <p:spPr>
          <a:xfrm>
            <a:off x="152400" y="874455"/>
            <a:ext cx="5496560" cy="255454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dirty="0">
                <a:ln>
                  <a:noFill/>
                </a:ln>
                <a:solidFill>
                  <a:schemeClr val="tx1"/>
                </a:solidFill>
                <a:effectLst/>
                <a:latin typeface="Arial" panose="020B0604020202020204" pitchFamily="34" charset="0"/>
              </a:rPr>
              <a:t>3. 공고 요구사항 재현율</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여기서 말하는 공고 요구사항 재현율은 의미 기반 평가가 아니라,</a:t>
            </a:r>
            <a:endParaRPr kumimoji="0" lang="en-US"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정답 세트에 정의한 요구사항 키워드가 분석 결과에 포함되었는지를 세는 단어 재현율입니다.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정답 요구사항은 다음 3개입니다.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FastAPI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React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평가식은 다음과 같습니다.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공고 요구사항 단어 재현율 = 결과에 포함된 정답 키워드 수 / 전체 정답 키워드 수 × 100</a:t>
            </a: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다만 최종 집계는 4회 실행의 평균입니다. 기존 버전은 실행별로 요구사항 키워드를 모두 재현한 실행과 일부만 재현한 실행이 섞여 평균 50%가 되었습니다.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개선 버전은 4회 모두 세 키워드를 재현했습니다.</a:t>
            </a:r>
            <a:endParaRPr kumimoji="0" lang="ko-KR" altLang="ko-KR"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Unicode MS"/>
              </a:rPr>
              <a:t>3 / 3 × 100 = 100%</a:t>
            </a:r>
            <a:endParaRPr kumimoji="0" lang="ko-KR" altLang="ko-KR"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따라서 이 수치는 “공고의 모든 의미를 완벽히 이해했다”는 뜻보다는 다음 의미에 가깝습니다.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정답 공고에서 평가 대상으로 지정한 핵심 요구사항 키워드가 분석 결과에 얼마나 보존되었는지를 측정한 값</a:t>
            </a:r>
          </a:p>
        </p:txBody>
      </p:sp>
    </p:spTree>
    <p:extLst>
      <p:ext uri="{BB962C8B-B14F-4D97-AF65-F5344CB8AC3E}">
        <p14:creationId xmlns:p14="http://schemas.microsoft.com/office/powerpoint/2010/main" val="1185801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7E8409-305C-4D25-8B09-5974B1AADDB2}"/>
              </a:ext>
            </a:extLst>
          </p:cNvPr>
          <p:cNvSpPr txBox="1"/>
          <p:nvPr/>
        </p:nvSpPr>
        <p:spPr>
          <a:xfrm>
            <a:off x="1770437" y="905232"/>
            <a:ext cx="8305892" cy="504753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a:ln>
                  <a:noFill/>
                </a:ln>
                <a:solidFill>
                  <a:schemeClr val="tx1"/>
                </a:solidFill>
                <a:effectLst/>
                <a:latin typeface="Arial" panose="020B0604020202020204" pitchFamily="34" charset="0"/>
              </a:rPr>
              <a:t>한 문장 버전</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대화 전체를 모든 분석 단계에서 반복 처리하던 구조를 Function Calling 기반 콘텐츠 라우팅 구조로 변경하여, 경험·공고·혼합·무관·불확실 대화에 따라 필요한 분석만 수행하도록 개선했습니다.</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a:ln>
                  <a:noFill/>
                </a:ln>
                <a:solidFill>
                  <a:schemeClr val="tx1"/>
                </a:solidFill>
                <a:effectLst/>
                <a:latin typeface="Arial" panose="020B0604020202020204" pitchFamily="34" charset="0"/>
              </a:rPr>
              <a:t>문제와 의도가 드러나는 버전</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기존에는 대화 유형과 관계없이 경험 추출, 공고 탐색, 사실 검증을 반복 수행해 불필요한 LLM 호출과 중복 공고 탐색이 발생했습니다. 이를 통합 콘텐츠 라우터가 대화 유형을 먼저 분류하고, 분류 결과에 따라 필요한 LangGraph 경로만 실행하는 구조로 변경했습니다.</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a:ln>
                  <a:noFill/>
                </a:ln>
                <a:solidFill>
                  <a:schemeClr val="tx1"/>
                </a:solidFill>
                <a:effectLst/>
                <a:latin typeface="Arial" panose="020B0604020202020204" pitchFamily="34" charset="0"/>
              </a:rPr>
              <a:t>데이터 신뢰성 중심 버전</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AI 답변과 가공된 분석 결과를 사실의 근거로 활용하던 구조에서, 사용자 원문을 유일한 사실 근거로 보존하고 AI 답변은 질문 문맥 해석에만 사용하는 구조로 변경했습니다. 또한 원문과 일치하지 않는 인용은 자동 재요청하도록 하여 사실 재현율과 인용 신뢰성을 개선했습니다.</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a:ln>
                  <a:noFill/>
                </a:ln>
                <a:solidFill>
                  <a:schemeClr val="tx1"/>
                </a:solidFill>
                <a:effectLst/>
                <a:latin typeface="Arial" panose="020B0604020202020204" pitchFamily="34" charset="0"/>
              </a:rPr>
              <a:t>운영 안전성 중심 버전</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단일 자격요건 문장을 완전한 채용공고로 저장할 수 있던 구조를, 충분한 공고 문맥이 확인된 경우에만 저장하는 보수적 저장 구조로 변경했습니다. 이를 통해 공고 오탐을 1건에서 0건으로 줄이고, 벤치마크 과정에서 운영 DB 쓰기가 발생하지 않도록 분리했습니다.</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a:ln>
                  <a:noFill/>
                </a:ln>
                <a:solidFill>
                  <a:schemeClr val="tx1"/>
                </a:solidFill>
                <a:effectLst/>
                <a:latin typeface="Arial" panose="020B0604020202020204" pitchFamily="34" charset="0"/>
              </a:rPr>
              <a:t>성과까지 연결한 최종 문장</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이와 같은 구조 변경을 통해 LLM 호출 횟수를 7회에서 2회로 줄였고, 입력 토큰은 14.11%, 출력 토큰은 52.35%, 처리시간은 64.53% 감소시켰습니다. 동시에 경험 사실·문맥 의존 사실·공고 요구사항 재현율을 모두 100%로 개선하고, 공고 오탐과 AI 답변 기반 주장 유입을 제거했습니다.</a:t>
            </a:r>
          </a:p>
        </p:txBody>
      </p:sp>
    </p:spTree>
    <p:extLst>
      <p:ext uri="{BB962C8B-B14F-4D97-AF65-F5344CB8AC3E}">
        <p14:creationId xmlns:p14="http://schemas.microsoft.com/office/powerpoint/2010/main" val="38995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7B86F7-93B5-4143-9634-09C41FA61582}"/>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2AF4DBB9-F9BF-4579-ADB6-345E49A191D0}"/>
              </a:ext>
            </a:extLst>
          </p:cNvPr>
          <p:cNvSpPr txBox="1"/>
          <p:nvPr/>
        </p:nvSpPr>
        <p:spPr>
          <a:xfrm>
            <a:off x="1066800" y="1028343"/>
            <a:ext cx="10058400"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ko-KR" altLang="ko-KR" sz="1800" b="0" i="0" u="none" strike="noStrike" cap="none" normalizeH="0" baseline="0" dirty="0">
                <a:ln>
                  <a:noFill/>
                </a:ln>
                <a:solidFill>
                  <a:schemeClr val="bg1"/>
                </a:solidFill>
                <a:effectLst/>
                <a:latin typeface="Arial" panose="020B0604020202020204" pitchFamily="34" charset="0"/>
              </a:rPr>
              <a:t>공고 혹은 경험에서... 특정 기술이나 스팩에 대해서 유사도로 판정하는게 좋을까? 완전 일치하는 거로 판정하는게 좋을까? 예시로... 페스트api와 FastAPI와 레스트api를 유사하게 봐야하는지... 혹은 완전 일치하는 거만 같은 거로 봐야하는지? 자바스크립트와 타입스크립트라던가.. js라던가... 이런건 어떻게 보아야 혼란 혼돈 섞임이 없을지 싶어!</a:t>
            </a:r>
            <a:endParaRPr kumimoji="0" lang="en-US" altLang="ko-KR"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ko-KR" altLang="ko-KR"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ko-KR" altLang="ko-KR" sz="1800" b="0" i="0" u="none" strike="noStrike" cap="none" normalizeH="0" baseline="0" dirty="0">
                <a:ln>
                  <a:noFill/>
                </a:ln>
                <a:solidFill>
                  <a:schemeClr val="bg1"/>
                </a:solidFill>
                <a:effectLst/>
                <a:latin typeface="Arial" panose="020B0604020202020204" pitchFamily="34" charset="0"/>
              </a:rPr>
              <a:t>수치 정보는 임베딩으로만 하면 안되지 않아? 50%랑 49%랑 비슷할 수 있고, 절반 혹은 오십퍼센트 오십퍼 등 이런말도 쓸텐데 이게 임베딩으로 유사도 측정도 필요하겠지만... 한편으로는 정확히 그 수치를 제대로 추출해서 저장하거나 해야할 거 같기도 한데... 단순 임베딩과 llm만 쓰면 할루시가 생길 수 있잖아! 그러면 수치 부분은 따로 뽑아낼 수 있거나 그래야하지 않을까?</a:t>
            </a:r>
            <a:endParaRPr kumimoji="0" lang="en-US" altLang="ko-KR"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ko-KR" altLang="ko-KR"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0" i="0" u="none" strike="noStrike" cap="none" normalizeH="0" baseline="0" dirty="0">
                <a:ln>
                  <a:noFill/>
                </a:ln>
                <a:solidFill>
                  <a:schemeClr val="bg1"/>
                </a:solidFill>
                <a:effectLst/>
                <a:latin typeface="Arial" panose="020B0604020202020204" pitchFamily="34" charset="0"/>
              </a:rPr>
              <a:t>두가지 모두 지금 얼마나 잘 돼있는지 먼저 확인해보고 개선 방향 안내해줘!</a:t>
            </a:r>
          </a:p>
        </p:txBody>
      </p:sp>
    </p:spTree>
    <p:extLst>
      <p:ext uri="{BB962C8B-B14F-4D97-AF65-F5344CB8AC3E}">
        <p14:creationId xmlns:p14="http://schemas.microsoft.com/office/powerpoint/2010/main" val="2442981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0E532F1-D0F3-4B3D-A815-349CAD001A6B}"/>
              </a:ext>
            </a:extLst>
          </p:cNvPr>
          <p:cNvGraphicFramePr>
            <a:graphicFrameLocks noGrp="1"/>
          </p:cNvGraphicFramePr>
          <p:nvPr>
            <p:extLst>
              <p:ext uri="{D42A27DB-BD31-4B8C-83A1-F6EECF244321}">
                <p14:modId xmlns:p14="http://schemas.microsoft.com/office/powerpoint/2010/main" val="3317647128"/>
              </p:ext>
            </p:extLst>
          </p:nvPr>
        </p:nvGraphicFramePr>
        <p:xfrm>
          <a:off x="838200" y="2172494"/>
          <a:ext cx="10515600" cy="3657600"/>
        </p:xfrm>
        <a:graphic>
          <a:graphicData uri="http://schemas.openxmlformats.org/drawingml/2006/table">
            <a:tbl>
              <a:tblPr/>
              <a:tblGrid>
                <a:gridCol w="3505200">
                  <a:extLst>
                    <a:ext uri="{9D8B030D-6E8A-4147-A177-3AD203B41FA5}">
                      <a16:colId xmlns:a16="http://schemas.microsoft.com/office/drawing/2014/main" val="595626071"/>
                    </a:ext>
                  </a:extLst>
                </a:gridCol>
                <a:gridCol w="3505200">
                  <a:extLst>
                    <a:ext uri="{9D8B030D-6E8A-4147-A177-3AD203B41FA5}">
                      <a16:colId xmlns:a16="http://schemas.microsoft.com/office/drawing/2014/main" val="1512614699"/>
                    </a:ext>
                  </a:extLst>
                </a:gridCol>
                <a:gridCol w="3505200">
                  <a:extLst>
                    <a:ext uri="{9D8B030D-6E8A-4147-A177-3AD203B41FA5}">
                      <a16:colId xmlns:a16="http://schemas.microsoft.com/office/drawing/2014/main" val="2563211923"/>
                    </a:ext>
                  </a:extLst>
                </a:gridCol>
              </a:tblGrid>
              <a:tr h="0">
                <a:tc>
                  <a:txBody>
                    <a:bodyPr/>
                    <a:lstStyle/>
                    <a:p>
                      <a:r>
                        <a:rPr lang="ko-KR" altLang="en-US" dirty="0"/>
                        <a:t>영역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현재 상태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판단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494698"/>
                  </a:ext>
                </a:extLst>
              </a:tr>
              <a:tr h="0">
                <a:tc>
                  <a:txBody>
                    <a:bodyPr/>
                    <a:lstStyle/>
                    <a:p>
                      <a:r>
                        <a:rPr lang="ko-KR" altLang="en-US"/>
                        <a:t>기술 후보 탐색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임베딩 </a:t>
                      </a:r>
                      <a:r>
                        <a:rPr lang="en-US"/>
                        <a:t>RAG </a:t>
                      </a:r>
                      <a:r>
                        <a:rPr lang="ko-KR" altLang="en-US"/>
                        <a:t>사용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잘 되어 있음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5618400"/>
                  </a:ext>
                </a:extLst>
              </a:tr>
              <a:tr h="0">
                <a:tc>
                  <a:txBody>
                    <a:bodyPr/>
                    <a:lstStyle/>
                    <a:p>
                      <a:r>
                        <a:rPr lang="ko-KR" altLang="en-US"/>
                        <a:t>기술 유사도 점수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임베딩 </a:t>
                      </a:r>
                      <a:r>
                        <a:rPr lang="en-US" altLang="ko-KR"/>
                        <a:t>+ </a:t>
                      </a:r>
                      <a:r>
                        <a:rPr lang="en-US"/>
                        <a:t>LLM </a:t>
                      </a:r>
                      <a:r>
                        <a:rPr lang="ko-KR" altLang="en-US"/>
                        <a:t>점수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후보 검색에는 적합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8115297"/>
                  </a:ext>
                </a:extLst>
              </a:tr>
              <a:tr h="0">
                <a:tc>
                  <a:txBody>
                    <a:bodyPr/>
                    <a:lstStyle/>
                    <a:p>
                      <a:r>
                        <a:rPr lang="ko-KR" altLang="en-US"/>
                        <a:t>기술 동일성 판정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표준 </a:t>
                      </a:r>
                      <a:r>
                        <a:rPr lang="en-US" altLang="ko-KR"/>
                        <a:t>ID·alias </a:t>
                      </a:r>
                      <a:r>
                        <a:rPr lang="ko-KR" altLang="en-US"/>
                        <a:t>체계 없음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보강 필요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162521"/>
                  </a:ext>
                </a:extLst>
              </a:tr>
              <a:tr h="0">
                <a:tc>
                  <a:txBody>
                    <a:bodyPr/>
                    <a:lstStyle/>
                    <a:p>
                      <a:r>
                        <a:rPr lang="ko-KR" altLang="en-US"/>
                        <a:t>관련 기술과 동일 기술 구분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명시적 관계 모델 없음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보강 필요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26913"/>
                  </a:ext>
                </a:extLst>
              </a:tr>
              <a:tr h="0">
                <a:tc>
                  <a:txBody>
                    <a:bodyPr/>
                    <a:lstStyle/>
                    <a:p>
                      <a:r>
                        <a:rPr lang="ko-KR" altLang="en-US"/>
                        <a:t>원문 기술 인용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source excerpt</a:t>
                      </a:r>
                      <a:r>
                        <a:rPr lang="ko-KR" altLang="en-US"/>
                        <a:t>와 </a:t>
                      </a:r>
                      <a:r>
                        <a:rPr lang="en-US"/>
                        <a:t>evidence </a:t>
                      </a:r>
                      <a:r>
                        <a:rPr lang="ko-KR" altLang="en-US"/>
                        <a:t>연결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비교적 잘 되어 있음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8281465"/>
                  </a:ext>
                </a:extLst>
              </a:tr>
              <a:tr h="0">
                <a:tc>
                  <a:txBody>
                    <a:bodyPr/>
                    <a:lstStyle/>
                    <a:p>
                      <a:r>
                        <a:rPr lang="ko-KR" altLang="en-US"/>
                        <a:t>수치 원문 보존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사실 문장과 </a:t>
                      </a:r>
                      <a:r>
                        <a:rPr lang="en-US" altLang="ko-KR"/>
                        <a:t>exact quote</a:t>
                      </a:r>
                      <a:r>
                        <a:rPr lang="ko-KR" altLang="en-US"/>
                        <a:t>에 포함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기본 방어 가능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9525641"/>
                  </a:ext>
                </a:extLst>
              </a:tr>
              <a:tr h="0">
                <a:tc>
                  <a:txBody>
                    <a:bodyPr/>
                    <a:lstStyle/>
                    <a:p>
                      <a:r>
                        <a:rPr lang="ko-KR" altLang="en-US"/>
                        <a:t>수치 구조화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별도 숫자</a:t>
                      </a:r>
                      <a:r>
                        <a:rPr lang="en-US" altLang="ko-KR"/>
                        <a:t>·</a:t>
                      </a:r>
                      <a:r>
                        <a:rPr lang="ko-KR" altLang="en-US"/>
                        <a:t>단위</a:t>
                      </a:r>
                      <a:r>
                        <a:rPr lang="en-US" altLang="ko-KR"/>
                        <a:t>·</a:t>
                      </a:r>
                      <a:r>
                        <a:rPr lang="ko-KR" altLang="en-US"/>
                        <a:t>방향 필드 없음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보강 필요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7831480"/>
                  </a:ext>
                </a:extLst>
              </a:tr>
              <a:tr h="0">
                <a:tc>
                  <a:txBody>
                    <a:bodyPr/>
                    <a:lstStyle/>
                    <a:p>
                      <a:r>
                        <a:rPr lang="ko-KR" altLang="en-US"/>
                        <a:t>수치 원문 검증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인용문 </a:t>
                      </a:r>
                      <a:r>
                        <a:rPr lang="en-US"/>
                        <a:t>exact match </a:t>
                      </a:r>
                      <a:r>
                        <a:rPr lang="ko-KR" altLang="en-US"/>
                        <a:t>검증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잘 되어 있음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2223990"/>
                  </a:ext>
                </a:extLst>
              </a:tr>
              <a:tr h="0">
                <a:tc>
                  <a:txBody>
                    <a:bodyPr/>
                    <a:lstStyle/>
                    <a:p>
                      <a:r>
                        <a:rPr lang="ko-KR" altLang="en-US"/>
                        <a:t>수치 간 비교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a:t>임베딩 기반 비교에 취약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dirty="0"/>
                        <a:t>별도 </a:t>
                      </a:r>
                      <a:r>
                        <a:rPr lang="en-US" dirty="0"/>
                        <a:t>deterministic </a:t>
                      </a:r>
                      <a:r>
                        <a:rPr lang="ko-KR" altLang="en-US" dirty="0"/>
                        <a:t>비교 필요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242918"/>
                  </a:ext>
                </a:extLst>
              </a:tr>
            </a:tbl>
          </a:graphicData>
        </a:graphic>
      </p:graphicFrame>
    </p:spTree>
    <p:extLst>
      <p:ext uri="{BB962C8B-B14F-4D97-AF65-F5344CB8AC3E}">
        <p14:creationId xmlns:p14="http://schemas.microsoft.com/office/powerpoint/2010/main" val="127060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B4C29A-8B44-4736-BD5F-1E3C8C5B7565}"/>
              </a:ext>
            </a:extLst>
          </p:cNvPr>
          <p:cNvSpPr txBox="1"/>
          <p:nvPr/>
        </p:nvSpPr>
        <p:spPr>
          <a:xfrm>
            <a:off x="132080" y="183495"/>
            <a:ext cx="12059920" cy="338554"/>
          </a:xfrm>
          <a:prstGeom prst="rect">
            <a:avLst/>
          </a:prstGeom>
          <a:noFill/>
        </p:spPr>
        <p:txBody>
          <a:bodyPr wrap="square">
            <a:spAutoFit/>
          </a:bodyPr>
          <a:lstStyle/>
          <a:p>
            <a:r>
              <a:rPr lang="ko-KR" altLang="en-US" sz="1600" dirty="0">
                <a:solidFill>
                  <a:srgbClr val="FF0000"/>
                </a:solidFill>
              </a:rPr>
              <a:t>현재 구조는 “기본적인 근거 보존과 후보 검색”은 되어 있지만</a:t>
            </a:r>
            <a:r>
              <a:rPr lang="en-US" altLang="ko-KR" sz="1600" dirty="0">
                <a:solidFill>
                  <a:srgbClr val="FF0000"/>
                </a:solidFill>
              </a:rPr>
              <a:t>, </a:t>
            </a:r>
            <a:r>
              <a:rPr lang="ko-KR" altLang="en-US" sz="1600" dirty="0">
                <a:solidFill>
                  <a:srgbClr val="FF0000"/>
                </a:solidFill>
              </a:rPr>
              <a:t>기술명과 수치를 정밀하게 판정하기 위한 별도 계층은 아직 부족</a:t>
            </a:r>
          </a:p>
        </p:txBody>
      </p:sp>
      <p:sp>
        <p:nvSpPr>
          <p:cNvPr id="8" name="TextBox 7">
            <a:extLst>
              <a:ext uri="{FF2B5EF4-FFF2-40B4-BE49-F238E27FC236}">
                <a16:creationId xmlns:a16="http://schemas.microsoft.com/office/drawing/2014/main" id="{1E0CE2FE-AD34-48DD-A8DE-36444879FE2C}"/>
              </a:ext>
            </a:extLst>
          </p:cNvPr>
          <p:cNvSpPr txBox="1"/>
          <p:nvPr/>
        </p:nvSpPr>
        <p:spPr>
          <a:xfrm>
            <a:off x="355600" y="539343"/>
            <a:ext cx="3474720" cy="113877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1" i="0" u="none" strike="noStrike" cap="none" normalizeH="0" baseline="0" dirty="0">
                <a:ln>
                  <a:noFill/>
                </a:ln>
                <a:solidFill>
                  <a:schemeClr val="tx1"/>
                </a:solidFill>
                <a:effectLst/>
                <a:latin typeface="Arial" panose="020B0604020202020204" pitchFamily="34" charset="0"/>
              </a:rPr>
              <a:t>1. 기술명·스펙 비교 방식</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현재는 다음과 같은 혼합 구조입니다.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공고 요구사항의 </a:t>
            </a:r>
            <a:r>
              <a:rPr kumimoji="0" lang="ko-KR" altLang="ko-KR" sz="1000" b="0" i="0" u="none" strike="noStrike" cap="none" normalizeH="0" baseline="0" dirty="0">
                <a:ln>
                  <a:noFill/>
                </a:ln>
                <a:solidFill>
                  <a:schemeClr val="tx1"/>
                </a:solidFill>
                <a:effectLst/>
                <a:latin typeface="Arial Unicode MS"/>
              </a:rPr>
              <a:t>keywords</a:t>
            </a:r>
            <a:r>
              <a:rPr kumimoji="0" lang="ko-KR" altLang="ko-KR" sz="1000" b="0" i="0" u="none" strike="noStrike" cap="none" normalizeH="0" baseline="0" dirty="0">
                <a:ln>
                  <a:noFill/>
                </a:ln>
                <a:solidFill>
                  <a:schemeClr val="tx1"/>
                </a:solidFill>
                <a:effectLst/>
              </a:rPr>
              <a:t>를 LLM이 추출</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경험 후보는 임베딩 기반 RAG로 검색</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후보를 LLM이 다시 비교</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Unicode MS"/>
              </a:rPr>
              <a:t>similarity_score &gt;= 0.65</a:t>
            </a:r>
            <a:r>
              <a:rPr kumimoji="0" lang="ko-KR" altLang="ko-KR" sz="1000" b="0" i="0" u="none" strike="noStrike" cap="none" normalizeH="0" baseline="0" dirty="0">
                <a:ln>
                  <a:noFill/>
                </a:ln>
                <a:solidFill>
                  <a:schemeClr val="tx1"/>
                </a:solidFill>
                <a:effectLst/>
              </a:rPr>
              <a:t>인 경우 추천 결과에 포함</a:t>
            </a:r>
            <a:endParaRPr kumimoji="0" lang="ko-KR" altLang="ko-KR" sz="10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DDACDC36-5178-4D93-8B24-55963B4EED50}"/>
              </a:ext>
            </a:extLst>
          </p:cNvPr>
          <p:cNvSpPr txBox="1"/>
          <p:nvPr/>
        </p:nvSpPr>
        <p:spPr>
          <a:xfrm>
            <a:off x="274320" y="1828822"/>
            <a:ext cx="6096000"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FF0000"/>
                </a:solidFill>
                <a:effectLst/>
                <a:latin typeface="Arial" panose="020B0604020202020204" pitchFamily="34" charset="0"/>
              </a:rPr>
              <a:t>현재 </a:t>
            </a:r>
            <a:r>
              <a:rPr kumimoji="0" lang="ko-KR" altLang="ko-KR" sz="1200" b="0" i="0" u="none" strike="noStrike" cap="none" normalizeH="0" baseline="0" dirty="0">
                <a:ln>
                  <a:noFill/>
                </a:ln>
                <a:solidFill>
                  <a:srgbClr val="FF0000"/>
                </a:solidFill>
                <a:effectLst/>
                <a:latin typeface="Arial Unicode MS"/>
              </a:rPr>
              <a:t>skills</a:t>
            </a:r>
            <a:r>
              <a:rPr kumimoji="0" lang="ko-KR" altLang="ko-KR" sz="1200" b="0" i="0" u="none" strike="noStrike" cap="none" normalizeH="0" baseline="0" dirty="0">
                <a:ln>
                  <a:noFill/>
                </a:ln>
                <a:solidFill>
                  <a:srgbClr val="FF0000"/>
                </a:solidFill>
                <a:effectLst/>
              </a:rPr>
              <a:t>, </a:t>
            </a:r>
            <a:r>
              <a:rPr kumimoji="0" lang="ko-KR" altLang="ko-KR" sz="1200" b="0" i="0" u="none" strike="noStrike" cap="none" normalizeH="0" baseline="0" dirty="0">
                <a:ln>
                  <a:noFill/>
                </a:ln>
                <a:solidFill>
                  <a:srgbClr val="FF0000"/>
                </a:solidFill>
                <a:effectLst/>
                <a:latin typeface="Arial Unicode MS"/>
              </a:rPr>
              <a:t>keywords</a:t>
            </a:r>
            <a:r>
              <a:rPr kumimoji="0" lang="ko-KR" altLang="ko-KR" sz="1200" b="0" i="0" u="none" strike="noStrike" cap="none" normalizeH="0" baseline="0" dirty="0">
                <a:ln>
                  <a:noFill/>
                </a:ln>
                <a:solidFill>
                  <a:srgbClr val="FF0000"/>
                </a:solidFill>
                <a:effectLst/>
              </a:rPr>
              <a:t>는 사실상 문자열 배열</a:t>
            </a:r>
            <a:endParaRPr kumimoji="0" lang="en-US" altLang="ko-KR" sz="12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rgbClr val="FF0000"/>
                </a:solidFill>
                <a:effectLst/>
                <a:latin typeface="Arial" panose="020B0604020202020204" pitchFamily="34" charset="0"/>
              </a:rPr>
              <a:t> </a:t>
            </a:r>
            <a:r>
              <a:rPr kumimoji="0" lang="ko-KR" altLang="ko-KR" sz="1200" b="0" i="0" u="none" strike="noStrike" cap="none" normalizeH="0" baseline="0" dirty="0">
                <a:ln>
                  <a:noFill/>
                </a:ln>
                <a:solidFill>
                  <a:srgbClr val="FF0000"/>
                </a:solidFill>
                <a:effectLst/>
                <a:latin typeface="Arial Unicode MS"/>
              </a:rPr>
              <a:t>FastAPI</a:t>
            </a:r>
            <a:r>
              <a:rPr kumimoji="0" lang="ko-KR" altLang="ko-KR" sz="1200" b="0" i="0" u="none" strike="noStrike" cap="none" normalizeH="0" baseline="0" dirty="0">
                <a:ln>
                  <a:noFill/>
                </a:ln>
                <a:solidFill>
                  <a:srgbClr val="FF0000"/>
                </a:solidFill>
                <a:effectLst/>
              </a:rPr>
              <a:t>를 별도의 표준 기술 ID로 변환하지 않음</a:t>
            </a:r>
            <a:endParaRPr kumimoji="0" lang="en-US" altLang="ko-KR" sz="12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ko-KR" altLang="en-US" sz="1200" b="0" i="0" u="none" strike="noStrike" cap="none" normalizeH="0" baseline="0" dirty="0">
                <a:ln>
                  <a:noFill/>
                </a:ln>
                <a:effectLst/>
                <a:latin typeface="Arial" panose="020B0604020202020204" pitchFamily="34" charset="0"/>
              </a:rPr>
              <a:t>예시</a:t>
            </a:r>
            <a:r>
              <a:rPr kumimoji="0" lang="en-US" altLang="ko-KR" sz="1200" b="0" i="0" u="none" strike="noStrike" cap="none" normalizeH="0" baseline="0" dirty="0">
                <a:ln>
                  <a:noFill/>
                </a:ln>
                <a:effectLst/>
                <a:latin typeface="Arial" panose="020B0604020202020204" pitchFamily="34" charset="0"/>
              </a:rPr>
              <a:t>:</a:t>
            </a:r>
            <a:endParaRPr kumimoji="0" lang="ko-KR" altLang="ko-KR" sz="12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Unicode MS"/>
              </a:rPr>
              <a:t>페스트API</a:t>
            </a:r>
            <a:r>
              <a:rPr kumimoji="0" lang="ko-KR" altLang="ko-KR" sz="1200" b="0" i="0" u="none" strike="noStrike" cap="none" normalizeH="0" baseline="0" dirty="0">
                <a:ln>
                  <a:noFill/>
                </a:ln>
                <a:solidFill>
                  <a:schemeClr val="tx1"/>
                </a:solidFill>
                <a:effectLst/>
              </a:rPr>
              <a:t>, </a:t>
            </a:r>
            <a:r>
              <a:rPr kumimoji="0" lang="ko-KR" altLang="ko-KR" sz="1200" b="0" i="0" u="none" strike="noStrike" cap="none" normalizeH="0" baseline="0" dirty="0">
                <a:ln>
                  <a:noFill/>
                </a:ln>
                <a:solidFill>
                  <a:schemeClr val="tx1"/>
                </a:solidFill>
                <a:effectLst/>
                <a:latin typeface="Arial Unicode MS"/>
              </a:rPr>
              <a:t>FastAPI</a:t>
            </a:r>
            <a:r>
              <a:rPr kumimoji="0" lang="ko-KR" altLang="ko-KR" sz="1200" b="0" i="0" u="none" strike="noStrike" cap="none" normalizeH="0" baseline="0" dirty="0">
                <a:ln>
                  <a:noFill/>
                </a:ln>
                <a:solidFill>
                  <a:schemeClr val="tx1"/>
                </a:solidFill>
                <a:effectLst/>
              </a:rPr>
              <a:t>, </a:t>
            </a:r>
            <a:r>
              <a:rPr kumimoji="0" lang="ko-KR" altLang="ko-KR" sz="1200" b="0" i="0" u="none" strike="noStrike" cap="none" normalizeH="0" baseline="0" dirty="0">
                <a:ln>
                  <a:noFill/>
                </a:ln>
                <a:solidFill>
                  <a:schemeClr val="tx1"/>
                </a:solidFill>
                <a:effectLst/>
                <a:latin typeface="Arial Unicode MS"/>
              </a:rPr>
              <a:t>fast api</a:t>
            </a:r>
            <a:r>
              <a:rPr kumimoji="0" lang="ko-KR" altLang="ko-KR" sz="1200" b="0" i="0" u="none" strike="noStrike" cap="none" normalizeH="0" baseline="0" dirty="0">
                <a:ln>
                  <a:noFill/>
                </a:ln>
                <a:solidFill>
                  <a:schemeClr val="tx1"/>
                </a:solidFill>
                <a:effectLst/>
              </a:rPr>
              <a:t>를 같은 기술로 판정하는 규칙이 없음</a:t>
            </a:r>
            <a:endParaRPr kumimoji="0" lang="ko-KR"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Unicode MS"/>
              </a:rPr>
              <a:t>REST API</a:t>
            </a:r>
            <a:r>
              <a:rPr kumimoji="0" lang="ko-KR" altLang="ko-KR" sz="1200" b="0" i="0" u="none" strike="noStrike" cap="none" normalizeH="0" baseline="0" dirty="0">
                <a:ln>
                  <a:noFill/>
                </a:ln>
                <a:solidFill>
                  <a:schemeClr val="tx1"/>
                </a:solidFill>
                <a:effectLst/>
              </a:rPr>
              <a:t>, </a:t>
            </a:r>
            <a:r>
              <a:rPr kumimoji="0" lang="ko-KR" altLang="ko-KR" sz="1200" b="0" i="0" u="none" strike="noStrike" cap="none" normalizeH="0" baseline="0" dirty="0">
                <a:ln>
                  <a:noFill/>
                </a:ln>
                <a:solidFill>
                  <a:schemeClr val="tx1"/>
                </a:solidFill>
                <a:effectLst/>
                <a:latin typeface="Arial Unicode MS"/>
              </a:rPr>
              <a:t>FastAPI</a:t>
            </a:r>
            <a:r>
              <a:rPr kumimoji="0" lang="ko-KR" altLang="ko-KR" sz="1200" b="0" i="0" u="none" strike="noStrike" cap="none" normalizeH="0" baseline="0" dirty="0">
                <a:ln>
                  <a:noFill/>
                </a:ln>
                <a:solidFill>
                  <a:schemeClr val="tx1"/>
                </a:solidFill>
                <a:effectLst/>
              </a:rPr>
              <a:t>, </a:t>
            </a:r>
            <a:r>
              <a:rPr kumimoji="0" lang="ko-KR" altLang="ko-KR" sz="1200" b="0" i="0" u="none" strike="noStrike" cap="none" normalizeH="0" baseline="0" dirty="0">
                <a:ln>
                  <a:noFill/>
                </a:ln>
                <a:solidFill>
                  <a:schemeClr val="tx1"/>
                </a:solidFill>
                <a:effectLst/>
                <a:latin typeface="Arial Unicode MS"/>
              </a:rPr>
              <a:t>Flask</a:t>
            </a:r>
            <a:r>
              <a:rPr kumimoji="0" lang="ko-KR" altLang="ko-KR" sz="1200" b="0" i="0" u="none" strike="noStrike" cap="none" normalizeH="0" baseline="0" dirty="0">
                <a:ln>
                  <a:noFill/>
                </a:ln>
                <a:solidFill>
                  <a:schemeClr val="tx1"/>
                </a:solidFill>
                <a:effectLst/>
              </a:rPr>
              <a:t>의 관계를 구분하는 taxonomy가 없음</a:t>
            </a:r>
            <a:endParaRPr kumimoji="0" lang="ko-KR"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Unicode MS"/>
              </a:rPr>
              <a:t>JavaScript</a:t>
            </a:r>
            <a:r>
              <a:rPr kumimoji="0" lang="ko-KR" altLang="ko-KR" sz="1200" b="0" i="0" u="none" strike="noStrike" cap="none" normalizeH="0" baseline="0" dirty="0">
                <a:ln>
                  <a:noFill/>
                </a:ln>
                <a:solidFill>
                  <a:schemeClr val="tx1"/>
                </a:solidFill>
                <a:effectLst/>
              </a:rPr>
              <a:t>, </a:t>
            </a:r>
            <a:r>
              <a:rPr kumimoji="0" lang="ko-KR" altLang="ko-KR" sz="1200" b="0" i="0" u="none" strike="noStrike" cap="none" normalizeH="0" baseline="0" dirty="0">
                <a:ln>
                  <a:noFill/>
                </a:ln>
                <a:solidFill>
                  <a:schemeClr val="tx1"/>
                </a:solidFill>
                <a:effectLst/>
                <a:latin typeface="Arial Unicode MS"/>
              </a:rPr>
              <a:t>TypeScript</a:t>
            </a:r>
            <a:r>
              <a:rPr kumimoji="0" lang="ko-KR" altLang="ko-KR" sz="1200" b="0" i="0" u="none" strike="noStrike" cap="none" normalizeH="0" baseline="0" dirty="0">
                <a:ln>
                  <a:noFill/>
                </a:ln>
                <a:solidFill>
                  <a:schemeClr val="tx1"/>
                </a:solidFill>
                <a:effectLst/>
              </a:rPr>
              <a:t>, </a:t>
            </a:r>
            <a:r>
              <a:rPr kumimoji="0" lang="ko-KR" altLang="ko-KR" sz="1200" b="0" i="0" u="none" strike="noStrike" cap="none" normalizeH="0" baseline="0" dirty="0">
                <a:ln>
                  <a:noFill/>
                </a:ln>
                <a:solidFill>
                  <a:schemeClr val="tx1"/>
                </a:solidFill>
                <a:effectLst/>
                <a:latin typeface="Arial Unicode MS"/>
              </a:rPr>
              <a:t>JS</a:t>
            </a:r>
            <a:r>
              <a:rPr kumimoji="0" lang="ko-KR" altLang="ko-KR" sz="1200" b="0" i="0" u="none" strike="noStrike" cap="none" normalizeH="0" baseline="0" dirty="0">
                <a:ln>
                  <a:noFill/>
                </a:ln>
                <a:solidFill>
                  <a:schemeClr val="tx1"/>
                </a:solidFill>
                <a:effectLst/>
              </a:rPr>
              <a:t>를 동일·상위·유사 기술로 구분하지 않음</a:t>
            </a:r>
            <a:endParaRPr kumimoji="0" lang="ko-KR"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임베딩 유사도와 LLM의 </a:t>
            </a:r>
            <a:r>
              <a:rPr kumimoji="0" lang="ko-KR" altLang="ko-KR" sz="1200" b="0" i="0" u="none" strike="noStrike" cap="none" normalizeH="0" baseline="0" dirty="0">
                <a:ln>
                  <a:noFill/>
                </a:ln>
                <a:solidFill>
                  <a:schemeClr val="tx1"/>
                </a:solidFill>
                <a:effectLst/>
                <a:latin typeface="Arial Unicode MS"/>
              </a:rPr>
              <a:t>similarity_score</a:t>
            </a:r>
            <a:r>
              <a:rPr kumimoji="0" lang="ko-KR" altLang="ko-KR" sz="1200" b="0" i="0" u="none" strike="noStrike" cap="none" normalizeH="0" baseline="0" dirty="0">
                <a:ln>
                  <a:noFill/>
                </a:ln>
                <a:solidFill>
                  <a:schemeClr val="tx1"/>
                </a:solidFill>
                <a:effectLst/>
              </a:rPr>
              <a:t>에 기술 동일성 판단이 일부 의존함</a:t>
            </a:r>
            <a:endParaRPr kumimoji="0" lang="en-US" altLang="ko-KR"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lang="en-US" altLang="ko-KR"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ko-KR" altLang="en-US" sz="1200" dirty="0"/>
              <a:t>의미적으로 비슷한 경험 후보를 찾는 데는 적합하지만</a:t>
            </a:r>
            <a:r>
              <a:rPr lang="en-US" altLang="ko-KR" sz="1200" dirty="0"/>
              <a:t>, </a:t>
            </a:r>
            <a:r>
              <a:rPr lang="ko-KR" altLang="en-US" sz="1200" dirty="0"/>
              <a:t>기술 보유 여부를 최종 확정하는 판정기로는 아직 느슨</a:t>
            </a:r>
            <a:endParaRPr kumimoji="0" lang="ko-KR" altLang="ko-KR" sz="12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id="{5B532CBD-2561-4E58-BE4E-3EE03DA8DB26}"/>
              </a:ext>
            </a:extLst>
          </p:cNvPr>
          <p:cNvGraphicFramePr>
            <a:graphicFrameLocks noGrp="1"/>
          </p:cNvGraphicFramePr>
          <p:nvPr>
            <p:extLst>
              <p:ext uri="{D42A27DB-BD31-4B8C-83A1-F6EECF244321}">
                <p14:modId xmlns:p14="http://schemas.microsoft.com/office/powerpoint/2010/main" val="2177434344"/>
              </p:ext>
            </p:extLst>
          </p:nvPr>
        </p:nvGraphicFramePr>
        <p:xfrm>
          <a:off x="274320" y="4190368"/>
          <a:ext cx="5567679" cy="2194560"/>
        </p:xfrm>
        <a:graphic>
          <a:graphicData uri="http://schemas.openxmlformats.org/drawingml/2006/table">
            <a:tbl>
              <a:tblPr/>
              <a:tblGrid>
                <a:gridCol w="1310640">
                  <a:extLst>
                    <a:ext uri="{9D8B030D-6E8A-4147-A177-3AD203B41FA5}">
                      <a16:colId xmlns:a16="http://schemas.microsoft.com/office/drawing/2014/main" val="2635197673"/>
                    </a:ext>
                  </a:extLst>
                </a:gridCol>
                <a:gridCol w="2401146">
                  <a:extLst>
                    <a:ext uri="{9D8B030D-6E8A-4147-A177-3AD203B41FA5}">
                      <a16:colId xmlns:a16="http://schemas.microsoft.com/office/drawing/2014/main" val="4032983701"/>
                    </a:ext>
                  </a:extLst>
                </a:gridCol>
                <a:gridCol w="1855893">
                  <a:extLst>
                    <a:ext uri="{9D8B030D-6E8A-4147-A177-3AD203B41FA5}">
                      <a16:colId xmlns:a16="http://schemas.microsoft.com/office/drawing/2014/main" val="3490845532"/>
                    </a:ext>
                  </a:extLst>
                </a:gridCol>
              </a:tblGrid>
              <a:tr h="0">
                <a:tc>
                  <a:txBody>
                    <a:bodyPr/>
                    <a:lstStyle/>
                    <a:p>
                      <a:r>
                        <a:rPr lang="ko-KR" altLang="en-US" sz="1200"/>
                        <a:t>관계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예시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최종 판정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546807"/>
                  </a:ext>
                </a:extLst>
              </a:tr>
              <a:tr h="0">
                <a:tc>
                  <a:txBody>
                    <a:bodyPr/>
                    <a:lstStyle/>
                    <a:p>
                      <a:r>
                        <a:rPr lang="ko-KR" altLang="en-US" sz="1200"/>
                        <a:t>동일 기술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FastAPI, fastapi, Fast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동일 기술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274204"/>
                  </a:ext>
                </a:extLst>
              </a:tr>
              <a:tr h="0">
                <a:tc>
                  <a:txBody>
                    <a:bodyPr/>
                    <a:lstStyle/>
                    <a:p>
                      <a:r>
                        <a:rPr lang="ko-KR" altLang="en-US" sz="1200"/>
                        <a:t>명시적 별칭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200"/>
                        <a:t>JS, Javascript, </a:t>
                      </a:r>
                      <a:r>
                        <a:rPr lang="ko-KR" altLang="en-US" sz="1200"/>
                        <a:t>자바스크립트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동일 기술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1109"/>
                  </a:ext>
                </a:extLst>
              </a:tr>
              <a:tr h="0">
                <a:tc>
                  <a:txBody>
                    <a:bodyPr/>
                    <a:lstStyle/>
                    <a:p>
                      <a:r>
                        <a:rPr lang="ko-KR" altLang="en-US" sz="1200"/>
                        <a:t>관련 기술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REST API ↔ </a:t>
                      </a:r>
                      <a:r>
                        <a:rPr lang="en-US" sz="1200" dirty="0" err="1"/>
                        <a:t>FastAPI</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관련 기술이지만 동일 기술 아님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2492674"/>
                  </a:ext>
                </a:extLst>
              </a:tr>
              <a:tr h="0">
                <a:tc>
                  <a:txBody>
                    <a:bodyPr/>
                    <a:lstStyle/>
                    <a:p>
                      <a:r>
                        <a:rPr lang="ko-KR" altLang="en-US" sz="1200"/>
                        <a:t>확장</a:t>
                      </a:r>
                      <a:r>
                        <a:rPr lang="en-US" altLang="ko-KR" sz="1200"/>
                        <a:t>·</a:t>
                      </a:r>
                      <a:r>
                        <a:rPr lang="ko-KR" altLang="en-US" sz="1200"/>
                        <a:t>부분 관계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TypeScript ↔ JavaScript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a:t>관련 기술이지만 대체 불가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2085855"/>
                  </a:ext>
                </a:extLst>
              </a:tr>
              <a:tr h="0">
                <a:tc>
                  <a:txBody>
                    <a:bodyPr/>
                    <a:lstStyle/>
                    <a:p>
                      <a:r>
                        <a:rPr lang="ko-KR" altLang="en-US" sz="1200"/>
                        <a:t>유사 분야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Flask ↔ FastAPI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200" dirty="0"/>
                        <a:t>유사 백엔드 프레임워크지만 동일 아님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0567253"/>
                  </a:ext>
                </a:extLst>
              </a:tr>
            </a:tbl>
          </a:graphicData>
        </a:graphic>
      </p:graphicFrame>
      <p:sp>
        <p:nvSpPr>
          <p:cNvPr id="15" name="TextBox 14">
            <a:extLst>
              <a:ext uri="{FF2B5EF4-FFF2-40B4-BE49-F238E27FC236}">
                <a16:creationId xmlns:a16="http://schemas.microsoft.com/office/drawing/2014/main" id="{E91F77CC-9E2A-462E-8615-005BE28E956C}"/>
              </a:ext>
            </a:extLst>
          </p:cNvPr>
          <p:cNvSpPr txBox="1"/>
          <p:nvPr/>
        </p:nvSpPr>
        <p:spPr>
          <a:xfrm>
            <a:off x="274320" y="3913369"/>
            <a:ext cx="6096000" cy="276999"/>
          </a:xfrm>
          <a:prstGeom prst="rect">
            <a:avLst/>
          </a:prstGeom>
          <a:noFill/>
        </p:spPr>
        <p:txBody>
          <a:bodyPr wrap="square">
            <a:spAutoFit/>
          </a:bodyPr>
          <a:lstStyle/>
          <a:p>
            <a:r>
              <a:rPr lang="ko-KR" altLang="en-US" sz="1200" dirty="0">
                <a:solidFill>
                  <a:srgbClr val="FF0000"/>
                </a:solidFill>
              </a:rPr>
              <a:t>완전 일치와 유사도 중 하나만 선택하기보다</a:t>
            </a:r>
            <a:r>
              <a:rPr lang="en-US" altLang="ko-KR" sz="1200" dirty="0">
                <a:solidFill>
                  <a:srgbClr val="FF0000"/>
                </a:solidFill>
              </a:rPr>
              <a:t>, </a:t>
            </a:r>
            <a:r>
              <a:rPr lang="ko-KR" altLang="en-US" sz="1200" dirty="0">
                <a:solidFill>
                  <a:srgbClr val="FF0000"/>
                </a:solidFill>
              </a:rPr>
              <a:t>세 가지 관계를 분리하는 것이 안전</a:t>
            </a:r>
          </a:p>
        </p:txBody>
      </p:sp>
      <p:grpSp>
        <p:nvGrpSpPr>
          <p:cNvPr id="24" name="Group 23">
            <a:extLst>
              <a:ext uri="{FF2B5EF4-FFF2-40B4-BE49-F238E27FC236}">
                <a16:creationId xmlns:a16="http://schemas.microsoft.com/office/drawing/2014/main" id="{F82BEAE9-0E62-4A55-A8F5-093177FC765D}"/>
              </a:ext>
            </a:extLst>
          </p:cNvPr>
          <p:cNvGrpSpPr/>
          <p:nvPr/>
        </p:nvGrpSpPr>
        <p:grpSpPr>
          <a:xfrm>
            <a:off x="6096000" y="865763"/>
            <a:ext cx="6096000" cy="2563237"/>
            <a:chOff x="6162040" y="1065331"/>
            <a:chExt cx="6096000" cy="2563237"/>
          </a:xfrm>
        </p:grpSpPr>
        <p:sp>
          <p:nvSpPr>
            <p:cNvPr id="17" name="TextBox 16">
              <a:extLst>
                <a:ext uri="{FF2B5EF4-FFF2-40B4-BE49-F238E27FC236}">
                  <a16:creationId xmlns:a16="http://schemas.microsoft.com/office/drawing/2014/main" id="{B099E806-2F8C-4A43-B312-6E2DEB98831B}"/>
                </a:ext>
              </a:extLst>
            </p:cNvPr>
            <p:cNvSpPr txBox="1"/>
            <p:nvPr/>
          </p:nvSpPr>
          <p:spPr>
            <a:xfrm>
              <a:off x="6162040" y="1065331"/>
              <a:ext cx="6096000" cy="369332"/>
            </a:xfrm>
            <a:prstGeom prst="rect">
              <a:avLst/>
            </a:prstGeom>
            <a:noFill/>
          </p:spPr>
          <p:txBody>
            <a:bodyPr wrap="square">
              <a:spAutoFit/>
            </a:bodyPr>
            <a:lstStyle/>
            <a:p>
              <a:r>
                <a:rPr lang="ko-KR" altLang="en-US" dirty="0">
                  <a:highlight>
                    <a:srgbClr val="FFFF00"/>
                  </a:highlight>
                </a:rPr>
                <a:t>최종 매칭 판정</a:t>
              </a:r>
            </a:p>
          </p:txBody>
        </p:sp>
        <p:sp>
          <p:nvSpPr>
            <p:cNvPr id="19" name="TextBox 18">
              <a:extLst>
                <a:ext uri="{FF2B5EF4-FFF2-40B4-BE49-F238E27FC236}">
                  <a16:creationId xmlns:a16="http://schemas.microsoft.com/office/drawing/2014/main" id="{557A5947-602B-46A6-8195-F7D834018B4B}"/>
                </a:ext>
              </a:extLst>
            </p:cNvPr>
            <p:cNvSpPr txBox="1"/>
            <p:nvPr/>
          </p:nvSpPr>
          <p:spPr>
            <a:xfrm>
              <a:off x="6162040" y="1505656"/>
              <a:ext cx="4282440" cy="646331"/>
            </a:xfrm>
            <a:prstGeom prst="rect">
              <a:avLst/>
            </a:prstGeom>
            <a:noFill/>
          </p:spPr>
          <p:txBody>
            <a:bodyPr wrap="square">
              <a:spAutoFit/>
            </a:bodyPr>
            <a:lstStyle/>
            <a:p>
              <a:r>
                <a:rPr lang="ko-KR" altLang="en-US" dirty="0">
                  <a:highlight>
                    <a:srgbClr val="FFFF00"/>
                  </a:highlight>
                </a:rPr>
                <a:t>정규화된 기술 ID가 동일하거나승인된 alias 관계인 경우에만 exact match</a:t>
              </a:r>
            </a:p>
          </p:txBody>
        </p:sp>
        <p:pic>
          <p:nvPicPr>
            <p:cNvPr id="23" name="Picture 22">
              <a:extLst>
                <a:ext uri="{FF2B5EF4-FFF2-40B4-BE49-F238E27FC236}">
                  <a16:creationId xmlns:a16="http://schemas.microsoft.com/office/drawing/2014/main" id="{ADD3EFA0-07A8-43C3-AAC2-942E20734127}"/>
                </a:ext>
              </a:extLst>
            </p:cNvPr>
            <p:cNvPicPr>
              <a:picLocks noChangeAspect="1"/>
            </p:cNvPicPr>
            <p:nvPr/>
          </p:nvPicPr>
          <p:blipFill>
            <a:blip r:embed="rId2"/>
            <a:stretch>
              <a:fillRect/>
            </a:stretch>
          </p:blipFill>
          <p:spPr>
            <a:xfrm>
              <a:off x="6273800" y="2151987"/>
              <a:ext cx="2772162" cy="1476581"/>
            </a:xfrm>
            <a:prstGeom prst="rect">
              <a:avLst/>
            </a:prstGeom>
          </p:spPr>
        </p:pic>
      </p:grpSp>
      <p:sp>
        <p:nvSpPr>
          <p:cNvPr id="27" name="TextBox 26">
            <a:extLst>
              <a:ext uri="{FF2B5EF4-FFF2-40B4-BE49-F238E27FC236}">
                <a16:creationId xmlns:a16="http://schemas.microsoft.com/office/drawing/2014/main" id="{155E118C-6DC2-4D4D-B83B-F5C8895DC9CE}"/>
              </a:ext>
            </a:extLst>
          </p:cNvPr>
          <p:cNvSpPr txBox="1"/>
          <p:nvPr/>
        </p:nvSpPr>
        <p:spPr>
          <a:xfrm>
            <a:off x="6096000" y="3548334"/>
            <a:ext cx="609600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a:ln>
                  <a:noFill/>
                </a:ln>
                <a:solidFill>
                  <a:schemeClr val="tx1"/>
                </a:solidFill>
                <a:effectLst/>
                <a:highlight>
                  <a:srgbClr val="FFFF00"/>
                </a:highlight>
                <a:latin typeface="Arial" panose="020B0604020202020204" pitchFamily="34" charset="0"/>
              </a:rPr>
              <a:t>임베딩: 후보를 넓게 찾는 용도</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a:ln>
                  <a:noFill/>
                </a:ln>
                <a:solidFill>
                  <a:schemeClr val="tx1"/>
                </a:solidFill>
                <a:effectLst/>
                <a:highlight>
                  <a:srgbClr val="FFFF00"/>
                </a:highlight>
                <a:latin typeface="Arial" panose="020B0604020202020204" pitchFamily="34" charset="0"/>
              </a:rPr>
              <a:t>기술 taxonomy와 alias: 동일 기술 여부를 판정하는 용도</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800" b="0" i="0" u="none" strike="noStrike" cap="none" normalizeH="0" baseline="0" dirty="0">
                <a:ln>
                  <a:noFill/>
                </a:ln>
                <a:solidFill>
                  <a:schemeClr val="tx1"/>
                </a:solidFill>
                <a:effectLst/>
                <a:highlight>
                  <a:srgbClr val="FFFF00"/>
                </a:highlight>
                <a:latin typeface="Arial" panose="020B0604020202020204" pitchFamily="34" charset="0"/>
              </a:rPr>
              <a:t>원문 인용: 실제 보유 근거를 검증하는 용도 </a:t>
            </a:r>
            <a:endParaRPr kumimoji="0" lang="en-US" altLang="ko-KR" sz="18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ko-KR" altLang="en-US" dirty="0">
                <a:solidFill>
                  <a:srgbClr val="FF0000"/>
                </a:solidFill>
                <a:highlight>
                  <a:srgbClr val="FFFF00"/>
                </a:highlight>
              </a:rPr>
              <a:t>이 </a:t>
            </a:r>
            <a:r>
              <a:rPr lang="en-US" altLang="ko-KR" dirty="0">
                <a:solidFill>
                  <a:srgbClr val="FF0000"/>
                </a:solidFill>
                <a:highlight>
                  <a:srgbClr val="FFFF00"/>
                </a:highlight>
              </a:rPr>
              <a:t>3</a:t>
            </a:r>
            <a:r>
              <a:rPr lang="ko-KR" altLang="en-US" dirty="0">
                <a:solidFill>
                  <a:srgbClr val="FF0000"/>
                </a:solidFill>
                <a:highlight>
                  <a:srgbClr val="FFFF00"/>
                </a:highlight>
              </a:rPr>
              <a:t>단계를 분리해</a:t>
            </a:r>
            <a:r>
              <a:rPr lang="en-US" altLang="ko-KR" dirty="0">
                <a:solidFill>
                  <a:srgbClr val="FF0000"/>
                </a:solidFill>
                <a:highlight>
                  <a:srgbClr val="FFFF00"/>
                </a:highlight>
                <a:latin typeface="Arial" panose="020B0604020202020204" pitchFamily="34" charset="0"/>
              </a:rPr>
              <a:t> </a:t>
            </a:r>
            <a:r>
              <a:rPr lang="ko-KR" altLang="en-US" dirty="0">
                <a:solidFill>
                  <a:srgbClr val="FF0000"/>
                </a:solidFill>
                <a:highlight>
                  <a:srgbClr val="FFFF00"/>
                </a:highlight>
                <a:latin typeface="Arial" panose="020B0604020202020204" pitchFamily="34" charset="0"/>
              </a:rPr>
              <a:t>혼란 감소</a:t>
            </a:r>
            <a:endParaRPr kumimoji="0" lang="ko-KR" altLang="ko-KR" sz="1800" b="0" i="0" u="none" strike="noStrike" cap="none" normalizeH="0" baseline="0" dirty="0">
              <a:ln>
                <a:noFill/>
              </a:ln>
              <a:solidFill>
                <a:srgbClr val="FF0000"/>
              </a:solidFill>
              <a:effectLst/>
              <a:highlight>
                <a:srgbClr val="FFFF00"/>
              </a:highlight>
              <a:latin typeface="Arial" panose="020B0604020202020204" pitchFamily="34" charset="0"/>
            </a:endParaRPr>
          </a:p>
        </p:txBody>
      </p:sp>
      <p:sp>
        <p:nvSpPr>
          <p:cNvPr id="29" name="TextBox 28">
            <a:extLst>
              <a:ext uri="{FF2B5EF4-FFF2-40B4-BE49-F238E27FC236}">
                <a16:creationId xmlns:a16="http://schemas.microsoft.com/office/drawing/2014/main" id="{D1EB45BD-54EC-49B2-B0B2-821195C00BE5}"/>
              </a:ext>
            </a:extLst>
          </p:cNvPr>
          <p:cNvSpPr txBox="1"/>
          <p:nvPr/>
        </p:nvSpPr>
        <p:spPr>
          <a:xfrm>
            <a:off x="5931922" y="5363729"/>
            <a:ext cx="6096000" cy="954107"/>
          </a:xfrm>
          <a:prstGeom prst="rect">
            <a:avLst/>
          </a:prstGeom>
          <a:solidFill>
            <a:schemeClr val="tx1"/>
          </a:solidFill>
          <a:ln>
            <a:solidFill>
              <a:schemeClr val="tx1"/>
            </a:solidFill>
          </a:ln>
        </p:spPr>
        <p:txBody>
          <a:bodyPr wrap="square">
            <a:spAutoFit/>
          </a:bodyPr>
          <a:lstStyle/>
          <a:p>
            <a:r>
              <a:rPr lang="ko-KR" altLang="en-US" sz="1400" dirty="0">
                <a:solidFill>
                  <a:schemeClr val="bg1"/>
                </a:solidFill>
              </a:rPr>
              <a:t>임베딩 유사도와 </a:t>
            </a:r>
            <a:r>
              <a:rPr lang="en-US" altLang="ko-KR" sz="1400" dirty="0">
                <a:solidFill>
                  <a:schemeClr val="bg1"/>
                </a:solidFill>
              </a:rPr>
              <a:t>LLM </a:t>
            </a:r>
            <a:r>
              <a:rPr lang="ko-KR" altLang="en-US" sz="1400" dirty="0">
                <a:solidFill>
                  <a:schemeClr val="bg1"/>
                </a:solidFill>
              </a:rPr>
              <a:t>판단만으로 기술 일치 여부를 결정하던 구조를</a:t>
            </a:r>
            <a:r>
              <a:rPr lang="en-US" altLang="ko-KR" sz="1400" dirty="0">
                <a:solidFill>
                  <a:schemeClr val="bg1"/>
                </a:solidFill>
              </a:rPr>
              <a:t>, </a:t>
            </a:r>
            <a:r>
              <a:rPr lang="ko-KR" altLang="en-US" sz="1400" dirty="0">
                <a:solidFill>
                  <a:schemeClr val="bg1"/>
                </a:solidFill>
              </a:rPr>
              <a:t>표준 기술 </a:t>
            </a:r>
            <a:r>
              <a:rPr lang="en-US" altLang="ko-KR" sz="1400" dirty="0">
                <a:solidFill>
                  <a:schemeClr val="bg1"/>
                </a:solidFill>
              </a:rPr>
              <a:t>ID·</a:t>
            </a:r>
            <a:r>
              <a:rPr lang="ko-KR" altLang="en-US" sz="1400" dirty="0">
                <a:solidFill>
                  <a:schemeClr val="bg1"/>
                </a:solidFill>
              </a:rPr>
              <a:t>명시적 별칭</a:t>
            </a:r>
            <a:r>
              <a:rPr lang="en-US" altLang="ko-KR" sz="1400" dirty="0">
                <a:solidFill>
                  <a:schemeClr val="bg1"/>
                </a:solidFill>
              </a:rPr>
              <a:t>·</a:t>
            </a:r>
            <a:r>
              <a:rPr lang="ko-KR" altLang="en-US" sz="1400" dirty="0">
                <a:solidFill>
                  <a:schemeClr val="bg1"/>
                </a:solidFill>
              </a:rPr>
              <a:t>관련 기술 관계를 분리한 계층형 매칭 구조로 개선한다</a:t>
            </a:r>
            <a:r>
              <a:rPr lang="en-US" altLang="ko-KR" sz="1400" dirty="0">
                <a:solidFill>
                  <a:schemeClr val="bg1"/>
                </a:solidFill>
              </a:rPr>
              <a:t>. </a:t>
            </a:r>
            <a:r>
              <a:rPr lang="ko-KR" altLang="en-US" sz="1400" dirty="0">
                <a:solidFill>
                  <a:schemeClr val="bg1"/>
                </a:solidFill>
              </a:rPr>
              <a:t>임베딩은 후보 검색에만 사용하고</a:t>
            </a:r>
            <a:r>
              <a:rPr lang="en-US" altLang="ko-KR" sz="1400" dirty="0">
                <a:solidFill>
                  <a:schemeClr val="bg1"/>
                </a:solidFill>
              </a:rPr>
              <a:t>, </a:t>
            </a:r>
            <a:r>
              <a:rPr lang="ko-KR" altLang="en-US" sz="1400" dirty="0">
                <a:solidFill>
                  <a:schemeClr val="bg1"/>
                </a:solidFill>
              </a:rPr>
              <a:t>필수 기술 충족 여부는 정규화된 기술 </a:t>
            </a:r>
            <a:r>
              <a:rPr lang="en-US" altLang="ko-KR" sz="1400" dirty="0">
                <a:solidFill>
                  <a:schemeClr val="bg1"/>
                </a:solidFill>
              </a:rPr>
              <a:t>ID</a:t>
            </a:r>
            <a:r>
              <a:rPr lang="ko-KR" altLang="en-US" sz="1400" dirty="0">
                <a:solidFill>
                  <a:schemeClr val="bg1"/>
                </a:solidFill>
              </a:rPr>
              <a:t>와 원문 근거가 모두 확인된 경우에만 인정한다</a:t>
            </a:r>
            <a:r>
              <a:rPr lang="en-US" altLang="ko-KR" sz="1400" dirty="0">
                <a:solidFill>
                  <a:schemeClr val="bg1"/>
                </a:solidFill>
              </a:rPr>
              <a:t>.</a:t>
            </a:r>
            <a:endParaRPr lang="ko-KR" altLang="en-US" sz="1400" dirty="0">
              <a:solidFill>
                <a:schemeClr val="bg1"/>
              </a:solidFill>
            </a:endParaRPr>
          </a:p>
        </p:txBody>
      </p:sp>
    </p:spTree>
    <p:extLst>
      <p:ext uri="{BB962C8B-B14F-4D97-AF65-F5344CB8AC3E}">
        <p14:creationId xmlns:p14="http://schemas.microsoft.com/office/powerpoint/2010/main" val="3530416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BA8FF0-4282-4DF9-831A-F82083ABF75C}"/>
              </a:ext>
            </a:extLst>
          </p:cNvPr>
          <p:cNvSpPr txBox="1"/>
          <p:nvPr/>
        </p:nvSpPr>
        <p:spPr>
          <a:xfrm>
            <a:off x="172720" y="155694"/>
            <a:ext cx="6096000" cy="369332"/>
          </a:xfrm>
          <a:prstGeom prst="rect">
            <a:avLst/>
          </a:prstGeom>
          <a:noFill/>
        </p:spPr>
        <p:txBody>
          <a:bodyPr wrap="square">
            <a:spAutoFit/>
          </a:bodyPr>
          <a:lstStyle/>
          <a:p>
            <a:r>
              <a:rPr lang="ko-KR" altLang="en-US" dirty="0"/>
              <a:t>수치 정보 처리 방식</a:t>
            </a:r>
          </a:p>
        </p:txBody>
      </p:sp>
      <p:sp>
        <p:nvSpPr>
          <p:cNvPr id="7" name="TextBox 6">
            <a:extLst>
              <a:ext uri="{FF2B5EF4-FFF2-40B4-BE49-F238E27FC236}">
                <a16:creationId xmlns:a16="http://schemas.microsoft.com/office/drawing/2014/main" id="{CF3D8171-BC22-40BF-BF9A-99425EDB4D9E}"/>
              </a:ext>
            </a:extLst>
          </p:cNvPr>
          <p:cNvSpPr txBox="1"/>
          <p:nvPr/>
        </p:nvSpPr>
        <p:spPr>
          <a:xfrm>
            <a:off x="254000" y="525026"/>
            <a:ext cx="6096000" cy="3970318"/>
          </a:xfrm>
          <a:prstGeom prst="rect">
            <a:avLst/>
          </a:prstGeom>
          <a:noFill/>
        </p:spPr>
        <p:txBody>
          <a:bodyPr wrap="square">
            <a:spAutoFit/>
          </a:bodyPr>
          <a:lstStyle/>
          <a:p>
            <a:r>
              <a:rPr lang="ko-KR" altLang="en-US" sz="1200" dirty="0">
                <a:highlight>
                  <a:srgbClr val="FFFF00"/>
                </a:highlight>
              </a:rPr>
              <a:t>긍정적인 안전장치</a:t>
            </a:r>
            <a:r>
              <a:rPr lang="en-US" altLang="ko-KR" sz="1200" dirty="0">
                <a:highlight>
                  <a:srgbClr val="FFFF00"/>
                </a:highlight>
              </a:rPr>
              <a:t> </a:t>
            </a:r>
            <a:r>
              <a:rPr lang="ko-KR" altLang="en-US" sz="1200" dirty="0">
                <a:highlight>
                  <a:srgbClr val="FFFF00"/>
                </a:highlight>
              </a:rPr>
              <a:t>있음</a:t>
            </a:r>
            <a:endParaRPr lang="en-US" altLang="ko-KR" sz="1200" dirty="0">
              <a:highlight>
                <a:srgbClr val="FFFF00"/>
              </a:highligh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경험 사실에는 반드시 </a:t>
            </a:r>
            <a:r>
              <a:rPr kumimoji="0" lang="ko-KR" altLang="ko-KR" sz="1200" b="0" i="0" u="none" strike="noStrike" cap="none" normalizeH="0" baseline="0" dirty="0">
                <a:ln>
                  <a:noFill/>
                </a:ln>
                <a:solidFill>
                  <a:schemeClr val="tx1"/>
                </a:solidFill>
                <a:effectLst/>
                <a:latin typeface="Arial Unicode MS"/>
              </a:rPr>
              <a:t>source_ref_id</a:t>
            </a:r>
            <a:r>
              <a:rPr kumimoji="0" lang="ko-KR" altLang="ko-KR" sz="1200" b="0" i="0" u="none" strike="noStrike" cap="none" normalizeH="0" baseline="0" dirty="0">
                <a:ln>
                  <a:noFill/>
                </a:ln>
                <a:solidFill>
                  <a:schemeClr val="tx1"/>
                </a:solidFill>
                <a:effectLst/>
              </a:rPr>
              <a:t>가 필요함</a:t>
            </a:r>
            <a:endParaRPr kumimoji="0" lang="ko-KR"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인용문은 사용자 원문에 실제로 포함되어야 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AI 답변에만 있는 수치와 주장은 사실로 사용하지 않도록 프롬프트에 명시함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Unicode MS"/>
              </a:rPr>
              <a:t>"12%"</a:t>
            </a:r>
            <a:r>
              <a:rPr kumimoji="0" lang="ko-KR" altLang="ko-KR" sz="1200" b="0" i="0" u="none" strike="noStrike" cap="none" normalizeH="0" baseline="0" dirty="0">
                <a:ln>
                  <a:noFill/>
                </a:ln>
                <a:solidFill>
                  <a:schemeClr val="tx1"/>
                </a:solidFill>
                <a:effectLst/>
              </a:rPr>
              <a:t>처럼 짧은 사용자 응답은 직전 질문 문맥을 참고하도록 처리함</a:t>
            </a:r>
            <a:r>
              <a:rPr kumimoji="0" lang="ko-KR" altLang="ko-KR" sz="1200" b="0" i="0" u="none" strike="noStrike" cap="none" normalizeH="0" baseline="0" dirty="0">
                <a:ln>
                  <a:noFill/>
                </a:ln>
                <a:solidFill>
                  <a:schemeClr val="tx1"/>
                </a:solidFill>
                <a:effectLst/>
                <a:latin typeface="Arial" panose="020B0604020202020204" pitchFamily="34" charset="0"/>
              </a:rPr>
              <a:t> </a:t>
            </a:r>
            <a:endParaRPr kumimoji="0" lang="en-US"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ko-KR"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ko-KR" altLang="en-US" sz="1200" dirty="0">
                <a:highlight>
                  <a:srgbClr val="FFFF00"/>
                </a:highlight>
              </a:rPr>
              <a:t>하지만 수치는 </a:t>
            </a:r>
            <a:r>
              <a:rPr lang="ko-KR" altLang="en-US" sz="1200" dirty="0"/>
              <a:t>현재 주로 사실 </a:t>
            </a:r>
            <a:r>
              <a:rPr lang="ko-KR" altLang="en-US" sz="1200" dirty="0">
                <a:highlight>
                  <a:srgbClr val="FFFF00"/>
                </a:highlight>
              </a:rPr>
              <a:t>문장의 문자열 안에 저장</a:t>
            </a:r>
            <a:endParaRPr lang="en-US" altLang="ko-KR" sz="1200" dirty="0">
              <a:highlight>
                <a:srgbClr val="FFFF00"/>
              </a:highlight>
            </a:endParaRPr>
          </a:p>
          <a:p>
            <a:pPr eaLnBrk="0" fontAlgn="base" latinLnBrk="0" hangingPunct="0">
              <a:spcBef>
                <a:spcPct val="0"/>
              </a:spcBef>
              <a:spcAft>
                <a:spcPct val="0"/>
              </a:spcAft>
            </a:pPr>
            <a:r>
              <a:rPr kumimoji="0" lang="ko-KR" altLang="en-US" sz="1200" b="0" i="0" u="none" strike="noStrike" cap="none" normalizeH="0" baseline="0" dirty="0">
                <a:ln>
                  <a:noFill/>
                </a:ln>
                <a:solidFill>
                  <a:schemeClr val="tx1"/>
                </a:solidFill>
                <a:effectLst/>
                <a:latin typeface="Arial Unicode MS"/>
              </a:rPr>
              <a:t>예시 </a:t>
            </a:r>
            <a:r>
              <a:rPr kumimoji="0" lang="en-US" altLang="ko-KR" sz="1200" b="0" i="0" u="none" strike="noStrike" cap="none" normalizeH="0" baseline="0" dirty="0">
                <a:ln>
                  <a:noFill/>
                </a:ln>
                <a:solidFill>
                  <a:schemeClr val="tx1"/>
                </a:solidFill>
                <a:effectLst/>
                <a:latin typeface="Arial Unicode MS"/>
              </a:rPr>
              <a:t>: </a:t>
            </a:r>
            <a:r>
              <a:rPr kumimoji="0" lang="ko-KR" altLang="ko-KR" sz="1200" b="0" i="0" u="none" strike="noStrike" cap="none" normalizeH="0" baseline="0" dirty="0">
                <a:ln>
                  <a:noFill/>
                </a:ln>
                <a:solidFill>
                  <a:schemeClr val="tx1"/>
                </a:solidFill>
                <a:effectLst/>
                <a:latin typeface="Arial Unicode MS"/>
              </a:rPr>
              <a:t>"결제 완료율을 14% 높였습니다." "처리 시간을 5시간에서 2시간으로 줄였습니다."</a:t>
            </a:r>
            <a:r>
              <a:rPr kumimoji="0" lang="ko-KR" altLang="ko-KR" sz="1050" b="0" i="0" u="none" strike="noStrike" cap="none" normalizeH="0" baseline="0" dirty="0">
                <a:ln>
                  <a:noFill/>
                </a:ln>
                <a:solidFill>
                  <a:schemeClr val="tx1"/>
                </a:solidFill>
                <a:effectLst/>
              </a:rPr>
              <a:t> </a:t>
            </a:r>
            <a:endParaRPr kumimoji="0" lang="ko-KR" altLang="ko-K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ko-KR" altLang="en-US" sz="1200" dirty="0">
                <a:highlight>
                  <a:srgbClr val="FFFF00"/>
                </a:highlight>
              </a:rPr>
              <a:t>현재 별도 구조화된 필드가 있는 것 아님</a:t>
            </a:r>
            <a:endParaRPr lang="en-US" altLang="ko-KR" sz="1200" dirty="0">
              <a:highlight>
                <a:srgbClr val="FFFF00"/>
              </a:highlight>
            </a:endParaRPr>
          </a:p>
          <a:p>
            <a:pPr marL="0" marR="0" lvl="0" indent="0" algn="l" defTabSz="914400" rtl="0" eaLnBrk="0" fontAlgn="base" latinLnBrk="0" hangingPunct="0">
              <a:lnSpc>
                <a:spcPct val="100000"/>
              </a:lnSpc>
              <a:spcBef>
                <a:spcPct val="0"/>
              </a:spcBef>
              <a:spcAft>
                <a:spcPct val="0"/>
              </a:spcAft>
              <a:buClrTx/>
              <a:buSzTx/>
              <a:tabLst/>
            </a:pPr>
            <a:r>
              <a:rPr lang="ko-KR" altLang="en-US" sz="1200" dirty="0">
                <a:highlight>
                  <a:srgbClr val="FFFF00"/>
                </a:highlight>
              </a:rPr>
              <a:t>원문 인용 검증은 가능하지만</a:t>
            </a:r>
            <a:r>
              <a:rPr lang="en-US" altLang="ko-KR" sz="1200" dirty="0">
                <a:highlight>
                  <a:srgbClr val="FFFF00"/>
                </a:highlight>
              </a:rPr>
              <a:t>, </a:t>
            </a:r>
            <a:r>
              <a:rPr lang="ko-KR" altLang="en-US" sz="1200" dirty="0">
                <a:highlight>
                  <a:srgbClr val="FFFF00"/>
                </a:highlight>
              </a:rPr>
              <a:t>수치 자체를 기계적으로 비교</a:t>
            </a:r>
            <a:r>
              <a:rPr lang="en-US" altLang="ko-KR" sz="1200" dirty="0">
                <a:highlight>
                  <a:srgbClr val="FFFF00"/>
                </a:highlight>
              </a:rPr>
              <a:t>·</a:t>
            </a:r>
            <a:r>
              <a:rPr lang="ko-KR" altLang="en-US" sz="1200" dirty="0">
                <a:highlight>
                  <a:srgbClr val="FFFF00"/>
                </a:highlight>
              </a:rPr>
              <a:t>검증</a:t>
            </a:r>
            <a:r>
              <a:rPr lang="en-US" altLang="ko-KR" sz="1200" dirty="0">
                <a:highlight>
                  <a:srgbClr val="FFFF00"/>
                </a:highlight>
              </a:rPr>
              <a:t>·</a:t>
            </a:r>
            <a:r>
              <a:rPr lang="ko-KR" altLang="en-US" sz="1200" dirty="0">
                <a:highlight>
                  <a:srgbClr val="FFFF00"/>
                </a:highlight>
              </a:rPr>
              <a:t>검색하는 구조는 아직 부족</a:t>
            </a:r>
            <a:endParaRPr lang="en-US" altLang="ko-KR" sz="1200" dirty="0">
              <a:highlight>
                <a:srgbClr val="FFFF00"/>
              </a:highligh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ko-KR" sz="1200" b="0" i="0" u="none" strike="noStrike" cap="none" normalizeH="0" baseline="0" dirty="0">
              <a:ln>
                <a:noFill/>
              </a:ln>
              <a:solidFill>
                <a:schemeClr val="tx1"/>
              </a:solidFill>
              <a:effectLst/>
              <a:highlight>
                <a:srgbClr val="FFFF00"/>
              </a:highlight>
              <a:latin typeface="Arial" panose="020B0604020202020204" pitchFamily="34" charset="0"/>
            </a:endParaRPr>
          </a:p>
          <a:p>
            <a:r>
              <a:rPr lang="ko-KR" altLang="en-US" sz="1200" dirty="0">
                <a:solidFill>
                  <a:srgbClr val="FF0000"/>
                </a:solidFill>
              </a:rPr>
              <a:t>베딩만으로 수치를 비교하면 문제가 생김</a:t>
            </a:r>
            <a:r>
              <a:rPr lang="en-US" altLang="ko-KR" sz="1200" dirty="0">
                <a:solidFill>
                  <a:srgbClr val="FF0000"/>
                </a:solidFill>
              </a:rPr>
              <a:t>.</a:t>
            </a:r>
          </a:p>
          <a:p>
            <a:pPr>
              <a:buFont typeface="Arial" panose="020B0604020202020204" pitchFamily="34" charset="0"/>
              <a:buChar char="•"/>
            </a:pPr>
            <a:r>
              <a:rPr lang="en-US" altLang="ko-KR" sz="1200" dirty="0"/>
              <a:t>50%</a:t>
            </a:r>
            <a:r>
              <a:rPr lang="ko-KR" altLang="en-US" sz="1200" dirty="0"/>
              <a:t>와 </a:t>
            </a:r>
            <a:r>
              <a:rPr lang="en-US" altLang="ko-KR" sz="1200" dirty="0"/>
              <a:t>49%</a:t>
            </a:r>
            <a:r>
              <a:rPr lang="ko-KR" altLang="en-US" sz="1200" dirty="0"/>
              <a:t>가 의미적으로 가깝게 검색될 수 있음</a:t>
            </a:r>
          </a:p>
          <a:p>
            <a:pPr>
              <a:buFont typeface="Arial" panose="020B0604020202020204" pitchFamily="34" charset="0"/>
              <a:buChar char="•"/>
            </a:pPr>
            <a:r>
              <a:rPr lang="ko-KR" altLang="en-US" sz="1200" dirty="0"/>
              <a:t>“절반”</a:t>
            </a:r>
            <a:r>
              <a:rPr lang="en-US" altLang="ko-KR" sz="1200" dirty="0"/>
              <a:t>, “50%”, “</a:t>
            </a:r>
            <a:r>
              <a:rPr lang="ko-KR" altLang="en-US" sz="1200" dirty="0"/>
              <a:t>오십 퍼센트”의 표현을 같은 값으로 정규화하지 못할 수 있음</a:t>
            </a:r>
          </a:p>
          <a:p>
            <a:pPr>
              <a:buFont typeface="Arial" panose="020B0604020202020204" pitchFamily="34" charset="0"/>
              <a:buChar char="•"/>
            </a:pPr>
            <a:r>
              <a:rPr lang="ko-KR" altLang="en-US" sz="1200" dirty="0"/>
              <a:t>“</a:t>
            </a:r>
            <a:r>
              <a:rPr lang="en-US" altLang="ko-KR" sz="1200" dirty="0"/>
              <a:t>50% </a:t>
            </a:r>
            <a:r>
              <a:rPr lang="ko-KR" altLang="en-US" sz="1200" dirty="0"/>
              <a:t>증가”와 “</a:t>
            </a:r>
            <a:r>
              <a:rPr lang="en-US" altLang="ko-KR" sz="1200" dirty="0"/>
              <a:t>50% </a:t>
            </a:r>
            <a:r>
              <a:rPr lang="ko-KR" altLang="en-US" sz="1200" dirty="0"/>
              <a:t>감소”를 혼동할 수 있음</a:t>
            </a:r>
          </a:p>
          <a:p>
            <a:pPr>
              <a:buFont typeface="Arial" panose="020B0604020202020204" pitchFamily="34" charset="0"/>
              <a:buChar char="•"/>
            </a:pPr>
            <a:r>
              <a:rPr lang="ko-KR" altLang="en-US" sz="1200" dirty="0"/>
              <a:t>“</a:t>
            </a:r>
            <a:r>
              <a:rPr lang="en-US" altLang="ko-KR" sz="1200" dirty="0"/>
              <a:t>50% </a:t>
            </a:r>
            <a:r>
              <a:rPr lang="ko-KR" altLang="en-US" sz="1200" dirty="0"/>
              <a:t>달성”과 “</a:t>
            </a:r>
            <a:r>
              <a:rPr lang="en-US" altLang="ko-KR" sz="1200" dirty="0"/>
              <a:t>50% </a:t>
            </a:r>
            <a:r>
              <a:rPr lang="ko-KR" altLang="en-US" sz="1200" dirty="0"/>
              <a:t>개선”의 의미가 다름</a:t>
            </a:r>
          </a:p>
          <a:p>
            <a:pPr>
              <a:buFont typeface="Arial" panose="020B0604020202020204" pitchFamily="34" charset="0"/>
              <a:buChar char="•"/>
            </a:pPr>
            <a:r>
              <a:rPr lang="ko-KR" altLang="en-US" sz="1200" dirty="0"/>
              <a:t>“</a:t>
            </a:r>
            <a:r>
              <a:rPr lang="en-US" altLang="ko-KR" sz="1200" dirty="0"/>
              <a:t>5</a:t>
            </a:r>
            <a:r>
              <a:rPr lang="ko-KR" altLang="en-US" sz="1200" dirty="0"/>
              <a:t>시간에서 </a:t>
            </a:r>
            <a:r>
              <a:rPr lang="en-US" altLang="ko-KR" sz="1200" dirty="0"/>
              <a:t>2</a:t>
            </a:r>
            <a:r>
              <a:rPr lang="ko-KR" altLang="en-US" sz="1200" dirty="0"/>
              <a:t>시간”은 단일 숫자가 아니라 전후 값임</a:t>
            </a:r>
          </a:p>
          <a:p>
            <a:pPr>
              <a:buFont typeface="Arial" panose="020B0604020202020204" pitchFamily="34" charset="0"/>
              <a:buChar char="•"/>
            </a:pPr>
            <a:r>
              <a:rPr lang="ko-KR" altLang="en-US" sz="1200" dirty="0"/>
              <a:t>“약 </a:t>
            </a:r>
            <a:r>
              <a:rPr lang="en-US" altLang="ko-KR" sz="1200" dirty="0"/>
              <a:t>50%”</a:t>
            </a:r>
            <a:r>
              <a:rPr lang="ko-KR" altLang="en-US" sz="1200" dirty="0"/>
              <a:t>와 “정확히 </a:t>
            </a:r>
            <a:r>
              <a:rPr lang="en-US" altLang="ko-KR" sz="1200" dirty="0"/>
              <a:t>50%”</a:t>
            </a:r>
            <a:r>
              <a:rPr lang="ko-KR" altLang="en-US" sz="1200" dirty="0"/>
              <a:t>의 불확실성이 다름</a:t>
            </a:r>
          </a:p>
        </p:txBody>
      </p:sp>
      <p:pic>
        <p:nvPicPr>
          <p:cNvPr id="13" name="Picture 12">
            <a:extLst>
              <a:ext uri="{FF2B5EF4-FFF2-40B4-BE49-F238E27FC236}">
                <a16:creationId xmlns:a16="http://schemas.microsoft.com/office/drawing/2014/main" id="{19EC701E-1035-4D22-A1F8-CF8F92615882}"/>
              </a:ext>
            </a:extLst>
          </p:cNvPr>
          <p:cNvPicPr>
            <a:picLocks noChangeAspect="1"/>
          </p:cNvPicPr>
          <p:nvPr/>
        </p:nvPicPr>
        <p:blipFill>
          <a:blip r:embed="rId2"/>
          <a:stretch>
            <a:fillRect/>
          </a:stretch>
        </p:blipFill>
        <p:spPr>
          <a:xfrm>
            <a:off x="6350000" y="155694"/>
            <a:ext cx="4897120" cy="4538049"/>
          </a:xfrm>
          <a:prstGeom prst="rect">
            <a:avLst/>
          </a:prstGeom>
        </p:spPr>
      </p:pic>
      <p:sp>
        <p:nvSpPr>
          <p:cNvPr id="15" name="TextBox 14">
            <a:extLst>
              <a:ext uri="{FF2B5EF4-FFF2-40B4-BE49-F238E27FC236}">
                <a16:creationId xmlns:a16="http://schemas.microsoft.com/office/drawing/2014/main" id="{ED7FB9C6-5DA0-406B-BA9A-AA9325B7CA34}"/>
              </a:ext>
            </a:extLst>
          </p:cNvPr>
          <p:cNvSpPr txBox="1"/>
          <p:nvPr/>
        </p:nvSpPr>
        <p:spPr>
          <a:xfrm>
            <a:off x="335280" y="4864676"/>
            <a:ext cx="6096000" cy="1600438"/>
          </a:xfrm>
          <a:prstGeom prst="rect">
            <a:avLst/>
          </a:prstGeom>
          <a:noFill/>
        </p:spPr>
        <p:txBody>
          <a:bodyPr wrap="square">
            <a:spAutoFit/>
          </a:bodyPr>
          <a:lstStyle/>
          <a:p>
            <a:r>
              <a:rPr lang="ko-KR" altLang="en-US" dirty="0"/>
              <a:t>처리 순서</a:t>
            </a:r>
            <a:endParaRPr lang="en-US" altLang="ko-KR"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ko-KR" altLang="ko-KR" sz="1000" b="0" i="0" u="none" strike="noStrike" cap="none" normalizeH="0" baseline="0" dirty="0">
                <a:ln>
                  <a:noFill/>
                </a:ln>
                <a:solidFill>
                  <a:schemeClr val="tx1"/>
                </a:solidFill>
                <a:effectLst/>
                <a:latin typeface="Arial" panose="020B0604020202020204" pitchFamily="34" charset="0"/>
              </a:rPr>
              <a:t>원문에서 수치 표현 탐지</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ko-KR" altLang="ko-KR" sz="1000" b="0" i="0" u="none" strike="noStrike" cap="none" normalizeH="0" baseline="0" dirty="0">
                <a:ln>
                  <a:noFill/>
                </a:ln>
                <a:solidFill>
                  <a:schemeClr val="tx1"/>
                </a:solidFill>
                <a:effectLst/>
                <a:latin typeface="Arial Unicode MS"/>
              </a:rPr>
              <a:t>%</a:t>
            </a:r>
            <a:r>
              <a:rPr kumimoji="0" lang="ko-KR" altLang="ko-KR" sz="1000" b="0" i="0" u="none" strike="noStrike" cap="none" normalizeH="0" baseline="0" dirty="0">
                <a:ln>
                  <a:noFill/>
                </a:ln>
                <a:solidFill>
                  <a:schemeClr val="tx1"/>
                </a:solidFill>
                <a:effectLst/>
              </a:rPr>
              <a:t>, </a:t>
            </a:r>
            <a:r>
              <a:rPr kumimoji="0" lang="ko-KR" altLang="ko-KR" sz="1000" b="0" i="0" u="none" strike="noStrike" cap="none" normalizeH="0" baseline="0" dirty="0">
                <a:ln>
                  <a:noFill/>
                </a:ln>
                <a:solidFill>
                  <a:schemeClr val="tx1"/>
                </a:solidFill>
                <a:effectLst/>
                <a:latin typeface="Arial Unicode MS"/>
              </a:rPr>
              <a:t>퍼센트</a:t>
            </a:r>
            <a:r>
              <a:rPr kumimoji="0" lang="ko-KR" altLang="ko-KR" sz="1000" b="0" i="0" u="none" strike="noStrike" cap="none" normalizeH="0" baseline="0" dirty="0">
                <a:ln>
                  <a:noFill/>
                </a:ln>
                <a:solidFill>
                  <a:schemeClr val="tx1"/>
                </a:solidFill>
                <a:effectLst/>
              </a:rPr>
              <a:t>, </a:t>
            </a:r>
            <a:r>
              <a:rPr kumimoji="0" lang="ko-KR" altLang="ko-KR" sz="1000" b="0" i="0" u="none" strike="noStrike" cap="none" normalizeH="0" baseline="0" dirty="0">
                <a:ln>
                  <a:noFill/>
                </a:ln>
                <a:solidFill>
                  <a:schemeClr val="tx1"/>
                </a:solidFill>
                <a:effectLst/>
                <a:latin typeface="Arial Unicode MS"/>
              </a:rPr>
              <a:t>오십 퍼센트</a:t>
            </a:r>
            <a:r>
              <a:rPr kumimoji="0" lang="ko-KR" altLang="ko-KR" sz="1000" b="0" i="0" u="none" strike="noStrike" cap="none" normalizeH="0" baseline="0" dirty="0">
                <a:ln>
                  <a:noFill/>
                </a:ln>
                <a:solidFill>
                  <a:schemeClr val="tx1"/>
                </a:solidFill>
                <a:effectLst/>
              </a:rPr>
              <a:t>, </a:t>
            </a:r>
            <a:r>
              <a:rPr kumimoji="0" lang="ko-KR" altLang="ko-KR" sz="1000" b="0" i="0" u="none" strike="noStrike" cap="none" normalizeH="0" baseline="0" dirty="0">
                <a:ln>
                  <a:noFill/>
                </a:ln>
                <a:solidFill>
                  <a:schemeClr val="tx1"/>
                </a:solidFill>
                <a:effectLst/>
                <a:latin typeface="Arial Unicode MS"/>
              </a:rPr>
              <a:t>절반</a:t>
            </a:r>
            <a:r>
              <a:rPr kumimoji="0" lang="ko-KR" altLang="ko-KR" sz="1000" b="0" i="0" u="none" strike="noStrike" cap="none" normalizeH="0" baseline="0" dirty="0">
                <a:ln>
                  <a:noFill/>
                </a:ln>
                <a:solidFill>
                  <a:schemeClr val="tx1"/>
                </a:solidFill>
                <a:effectLst/>
              </a:rPr>
              <a:t> 등을 정규화</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ko-KR" altLang="ko-KR" sz="1000" b="0" i="0" u="none" strike="noStrike" cap="none" normalizeH="0" baseline="0" dirty="0">
                <a:ln>
                  <a:noFill/>
                </a:ln>
                <a:solidFill>
                  <a:schemeClr val="tx1"/>
                </a:solidFill>
                <a:effectLst/>
                <a:latin typeface="Arial" panose="020B0604020202020204" pitchFamily="34" charset="0"/>
              </a:rPr>
              <a:t>증가·감소·달성·비율 등의 방향 분리</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ko-KR" altLang="ko-KR" sz="1000" b="0" i="0" u="none" strike="noStrike" cap="none" normalizeH="0" baseline="0" dirty="0">
                <a:ln>
                  <a:noFill/>
                </a:ln>
                <a:solidFill>
                  <a:schemeClr val="tx1"/>
                </a:solidFill>
                <a:effectLst/>
                <a:latin typeface="Arial" panose="020B0604020202020204" pitchFamily="34" charset="0"/>
              </a:rPr>
              <a:t>전후 값, 범위, 단위 분리</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ko-KR" altLang="ko-KR" sz="1000" b="0" i="0" u="none" strike="noStrike" cap="none" normalizeH="0" baseline="0" dirty="0">
                <a:ln>
                  <a:noFill/>
                </a:ln>
                <a:solidFill>
                  <a:schemeClr val="tx1"/>
                </a:solidFill>
                <a:effectLst/>
                <a:latin typeface="Arial" panose="020B0604020202020204" pitchFamily="34" charset="0"/>
              </a:rPr>
              <a:t>원문 인용과 위치 검증</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ko-KR" altLang="ko-KR" sz="1000" b="0" i="0" u="none" strike="noStrike" cap="none" normalizeH="0" baseline="0" dirty="0">
                <a:ln>
                  <a:noFill/>
                </a:ln>
                <a:solidFill>
                  <a:schemeClr val="tx1"/>
                </a:solidFill>
                <a:effectLst/>
                <a:latin typeface="Arial" panose="020B0604020202020204" pitchFamily="34" charset="0"/>
              </a:rPr>
              <a:t>구조화가 실패하면 수치를 확정하지 않고 </a:t>
            </a:r>
            <a:r>
              <a:rPr kumimoji="0" lang="ko-KR" altLang="ko-KR" sz="1000" b="0" i="0" u="none" strike="noStrike" cap="none" normalizeH="0" baseline="0" dirty="0">
                <a:ln>
                  <a:noFill/>
                </a:ln>
                <a:solidFill>
                  <a:schemeClr val="tx1"/>
                </a:solidFill>
                <a:effectLst/>
                <a:latin typeface="Arial Unicode MS"/>
              </a:rPr>
              <a:t>missing_information</a:t>
            </a:r>
            <a:r>
              <a:rPr kumimoji="0" lang="ko-KR" altLang="ko-KR" sz="1000" b="0" i="0" u="none" strike="noStrike" cap="none" normalizeH="0" baseline="0" dirty="0">
                <a:ln>
                  <a:noFill/>
                </a:ln>
                <a:solidFill>
                  <a:schemeClr val="tx1"/>
                </a:solidFill>
                <a:effectLst/>
              </a:rPr>
              <a:t>으로 보류</a:t>
            </a:r>
            <a:endParaRPr kumimoji="0" lang="ko-KR" altLang="ko-KR"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ko-KR" altLang="ko-KR" sz="1000" b="0" i="0" u="none" strike="noStrike" cap="none" normalizeH="0" baseline="0" dirty="0">
                <a:ln>
                  <a:noFill/>
                </a:ln>
                <a:solidFill>
                  <a:schemeClr val="tx1"/>
                </a:solidFill>
                <a:effectLst/>
                <a:latin typeface="Arial" panose="020B0604020202020204" pitchFamily="34" charset="0"/>
              </a:rPr>
              <a:t>임베딩은 관련 경험 검색에만 사용</a:t>
            </a:r>
          </a:p>
        </p:txBody>
      </p:sp>
      <p:sp>
        <p:nvSpPr>
          <p:cNvPr id="18" name="TextBox 17">
            <a:extLst>
              <a:ext uri="{FF2B5EF4-FFF2-40B4-BE49-F238E27FC236}">
                <a16:creationId xmlns:a16="http://schemas.microsoft.com/office/drawing/2014/main" id="{CAA80823-6B3E-47C6-A7A5-90BD08E6E5CD}"/>
              </a:ext>
            </a:extLst>
          </p:cNvPr>
          <p:cNvSpPr txBox="1"/>
          <p:nvPr/>
        </p:nvSpPr>
        <p:spPr>
          <a:xfrm>
            <a:off x="4775200" y="5063075"/>
            <a:ext cx="2702560"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LLM은 다음을 수행할 수 있습니다.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“이 수치가 어떤 지표에 연결되는가?”</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“증가인지 감소인지?”</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000" b="0" i="0" u="none" strike="noStrike" cap="none" normalizeH="0" baseline="0" dirty="0">
                <a:ln>
                  <a:noFill/>
                </a:ln>
                <a:solidFill>
                  <a:schemeClr val="tx1"/>
                </a:solidFill>
                <a:effectLst/>
                <a:latin typeface="Arial" panose="020B0604020202020204" pitchFamily="34" charset="0"/>
              </a:rPr>
              <a:t>“전후 값인지 단일 결과값인지?”</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a:ln>
                  <a:noFill/>
                </a:ln>
                <a:solidFill>
                  <a:schemeClr val="tx1"/>
                </a:solidFill>
                <a:effectLst/>
                <a:latin typeface="Arial" panose="020B0604020202020204" pitchFamily="34" charset="0"/>
              </a:rPr>
              <a:t>하지만 LLM이 반환한 값을 그대로 저장하면 안 되고, 반드시 다음을 검증</a:t>
            </a:r>
          </a:p>
        </p:txBody>
      </p:sp>
    </p:spTree>
    <p:extLst>
      <p:ext uri="{BB962C8B-B14F-4D97-AF65-F5344CB8AC3E}">
        <p14:creationId xmlns:p14="http://schemas.microsoft.com/office/powerpoint/2010/main" val="2825757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6F0A72-0A8B-4046-9476-157428D6769C}"/>
              </a:ext>
            </a:extLst>
          </p:cNvPr>
          <p:cNvPicPr>
            <a:picLocks noChangeAspect="1"/>
          </p:cNvPicPr>
          <p:nvPr/>
        </p:nvPicPr>
        <p:blipFill>
          <a:blip r:embed="rId2"/>
          <a:stretch>
            <a:fillRect/>
          </a:stretch>
        </p:blipFill>
        <p:spPr>
          <a:xfrm>
            <a:off x="7637836" y="437732"/>
            <a:ext cx="3743847" cy="5982535"/>
          </a:xfrm>
          <a:prstGeom prst="rect">
            <a:avLst/>
          </a:prstGeom>
        </p:spPr>
      </p:pic>
      <p:sp>
        <p:nvSpPr>
          <p:cNvPr id="7" name="TextBox 6">
            <a:extLst>
              <a:ext uri="{FF2B5EF4-FFF2-40B4-BE49-F238E27FC236}">
                <a16:creationId xmlns:a16="http://schemas.microsoft.com/office/drawing/2014/main" id="{1CC68D38-F0FB-48FD-8B06-42E226EC70B9}"/>
              </a:ext>
            </a:extLst>
          </p:cNvPr>
          <p:cNvSpPr txBox="1"/>
          <p:nvPr/>
        </p:nvSpPr>
        <p:spPr>
          <a:xfrm>
            <a:off x="274320" y="249535"/>
            <a:ext cx="6096000" cy="923330"/>
          </a:xfrm>
          <a:prstGeom prst="rect">
            <a:avLst/>
          </a:prstGeom>
          <a:solidFill>
            <a:schemeClr val="tx1"/>
          </a:solidFill>
        </p:spPr>
        <p:txBody>
          <a:bodyPr wrap="square">
            <a:spAutoFit/>
          </a:bodyPr>
          <a:lstStyle/>
          <a:p>
            <a:r>
              <a:rPr lang="ko-KR" altLang="en-US" dirty="0">
                <a:solidFill>
                  <a:schemeClr val="bg1"/>
                </a:solidFill>
              </a:rPr>
              <a:t>이런 방식들로 진행하면 정해진 기술 </a:t>
            </a:r>
            <a:r>
              <a:rPr lang="en-US" altLang="ko-KR" dirty="0">
                <a:solidFill>
                  <a:schemeClr val="bg1"/>
                </a:solidFill>
              </a:rPr>
              <a:t>id</a:t>
            </a:r>
            <a:r>
              <a:rPr lang="ko-KR" altLang="en-US" dirty="0">
                <a:solidFill>
                  <a:schemeClr val="bg1"/>
                </a:solidFill>
              </a:rPr>
              <a:t>나 정해진 스키마 구조에 맞아야지만 저장되는 거 아니야</a:t>
            </a:r>
            <a:r>
              <a:rPr lang="en-US" altLang="ko-KR" dirty="0">
                <a:solidFill>
                  <a:schemeClr val="bg1"/>
                </a:solidFill>
              </a:rPr>
              <a:t>? </a:t>
            </a:r>
            <a:r>
              <a:rPr lang="ko-KR" altLang="en-US" dirty="0">
                <a:solidFill>
                  <a:schemeClr val="bg1"/>
                </a:solidFill>
              </a:rPr>
              <a:t>그러면</a:t>
            </a:r>
            <a:r>
              <a:rPr lang="en-US" altLang="ko-KR" dirty="0">
                <a:solidFill>
                  <a:schemeClr val="bg1"/>
                </a:solidFill>
              </a:rPr>
              <a:t>... </a:t>
            </a:r>
            <a:r>
              <a:rPr lang="ko-KR" altLang="en-US" dirty="0">
                <a:solidFill>
                  <a:schemeClr val="bg1"/>
                </a:solidFill>
              </a:rPr>
              <a:t>그 이외에 규격 외 데이터들은 휘발되는 거 아니야</a:t>
            </a:r>
            <a:r>
              <a:rPr lang="en-US" altLang="ko-KR" dirty="0">
                <a:solidFill>
                  <a:schemeClr val="bg1"/>
                </a:solidFill>
              </a:rPr>
              <a:t>?</a:t>
            </a:r>
            <a:endParaRPr lang="ko-KR" altLang="en-US" dirty="0">
              <a:solidFill>
                <a:schemeClr val="bg1"/>
              </a:solidFill>
            </a:endParaRPr>
          </a:p>
        </p:txBody>
      </p:sp>
      <p:sp>
        <p:nvSpPr>
          <p:cNvPr id="9" name="TextBox 8">
            <a:extLst>
              <a:ext uri="{FF2B5EF4-FFF2-40B4-BE49-F238E27FC236}">
                <a16:creationId xmlns:a16="http://schemas.microsoft.com/office/drawing/2014/main" id="{CE0C3D9B-650D-4ACB-B8A9-80BC1A21F0C7}"/>
              </a:ext>
            </a:extLst>
          </p:cNvPr>
          <p:cNvSpPr txBox="1"/>
          <p:nvPr/>
        </p:nvSpPr>
        <p:spPr>
          <a:xfrm>
            <a:off x="274320" y="1419275"/>
            <a:ext cx="6096000" cy="3416320"/>
          </a:xfrm>
          <a:prstGeom prst="rect">
            <a:avLst/>
          </a:prstGeom>
          <a:noFill/>
        </p:spPr>
        <p:txBody>
          <a:bodyPr wrap="square">
            <a:spAutoFit/>
          </a:bodyPr>
          <a:lstStyle/>
          <a:p>
            <a:r>
              <a:rPr lang="ko-KR" altLang="en-US" dirty="0">
                <a:solidFill>
                  <a:srgbClr val="FF0000"/>
                </a:solidFill>
              </a:rPr>
              <a:t>기술 </a:t>
            </a:r>
            <a:r>
              <a:rPr lang="en-US" altLang="ko-KR" dirty="0">
                <a:solidFill>
                  <a:srgbClr val="FF0000"/>
                </a:solidFill>
              </a:rPr>
              <a:t>ID</a:t>
            </a:r>
            <a:r>
              <a:rPr lang="ko-KR" altLang="en-US" dirty="0">
                <a:solidFill>
                  <a:srgbClr val="FF0000"/>
                </a:solidFill>
              </a:rPr>
              <a:t>나 엄격한 수치 스키마만 통과한 데이터만 저장하도록 만들면</a:t>
            </a:r>
            <a:r>
              <a:rPr lang="en-US" altLang="ko-KR" dirty="0">
                <a:solidFill>
                  <a:srgbClr val="FF0000"/>
                </a:solidFill>
              </a:rPr>
              <a:t>, </a:t>
            </a:r>
            <a:r>
              <a:rPr lang="ko-KR" altLang="en-US" dirty="0">
                <a:solidFill>
                  <a:srgbClr val="FF0000"/>
                </a:solidFill>
              </a:rPr>
              <a:t>규격 밖 정보가 사라질 위험 있음</a:t>
            </a:r>
            <a:endParaRPr lang="en-US" altLang="ko-KR" dirty="0">
              <a:solidFill>
                <a:srgbClr val="FF0000"/>
              </a:solidFill>
            </a:endParaRPr>
          </a:p>
          <a:p>
            <a:pPr marL="285750" indent="-285750">
              <a:buFont typeface="Wingdings" panose="05000000000000000000" pitchFamily="2" charset="2"/>
              <a:buChar char="à"/>
            </a:pPr>
            <a:r>
              <a:rPr lang="ko-KR" altLang="en-US" dirty="0"/>
              <a:t>핵심은 “정규화에 성공해야 저장”이 아니라 다음처럼 설계해야함</a:t>
            </a:r>
            <a:endParaRPr lang="en-US" altLang="ko-KR" dirty="0"/>
          </a:p>
          <a:p>
            <a:pPr marL="285750" indent="-285750">
              <a:buFont typeface="Wingdings" panose="05000000000000000000" pitchFamily="2" charset="2"/>
              <a:buChar char="à"/>
            </a:pPr>
            <a:endParaRPr lang="en-US" altLang="ko-KR" dirty="0"/>
          </a:p>
          <a:p>
            <a:r>
              <a:rPr lang="ko-KR" altLang="en-US" dirty="0"/>
              <a:t>원문 근거</a:t>
            </a:r>
            <a:endParaRPr lang="en-US" altLang="ko-KR" dirty="0"/>
          </a:p>
          <a:p>
            <a:r>
              <a:rPr lang="ko-KR" altLang="en-US" dirty="0"/>
              <a:t> ↓ </a:t>
            </a:r>
            <a:r>
              <a:rPr lang="ko-KR" altLang="en-US" sz="1200" dirty="0"/>
              <a:t>항상 보존</a:t>
            </a:r>
            <a:endParaRPr lang="en-US" altLang="ko-KR" sz="1200" dirty="0"/>
          </a:p>
          <a:p>
            <a:r>
              <a:rPr lang="ko-KR" altLang="en-US" dirty="0"/>
              <a:t>추출된 표현</a:t>
            </a:r>
            <a:endParaRPr lang="en-US" altLang="ko-KR" dirty="0"/>
          </a:p>
          <a:p>
            <a:r>
              <a:rPr lang="ko-KR" altLang="en-US" dirty="0"/>
              <a:t> ↓ </a:t>
            </a:r>
            <a:r>
              <a:rPr lang="ko-KR" altLang="en-US" sz="1200" dirty="0"/>
              <a:t>항상 보존</a:t>
            </a:r>
            <a:endParaRPr lang="en-US" altLang="ko-KR" sz="1200" dirty="0"/>
          </a:p>
          <a:p>
            <a:r>
              <a:rPr lang="ko-KR" altLang="en-US" dirty="0"/>
              <a:t>표준화 결과  </a:t>
            </a:r>
            <a:endParaRPr lang="en-US" altLang="ko-KR" dirty="0"/>
          </a:p>
          <a:p>
            <a:r>
              <a:rPr lang="ko-KR" altLang="en-US" dirty="0"/>
              <a:t> ↓ </a:t>
            </a:r>
            <a:r>
              <a:rPr lang="ko-KR" altLang="en-US" sz="1200" dirty="0"/>
              <a:t>성공한 경우에만 연결</a:t>
            </a:r>
            <a:endParaRPr lang="en-US" altLang="ko-KR" sz="1200" dirty="0"/>
          </a:p>
          <a:p>
            <a:r>
              <a:rPr lang="ko-KR" altLang="en-US" dirty="0"/>
              <a:t>검색</a:t>
            </a:r>
            <a:r>
              <a:rPr lang="en-US" altLang="ko-KR" dirty="0"/>
              <a:t>·</a:t>
            </a:r>
            <a:r>
              <a:rPr lang="ko-KR" altLang="en-US" dirty="0"/>
              <a:t>매칭에 활용</a:t>
            </a:r>
          </a:p>
        </p:txBody>
      </p:sp>
      <p:pic>
        <p:nvPicPr>
          <p:cNvPr id="13" name="Picture 12">
            <a:extLst>
              <a:ext uri="{FF2B5EF4-FFF2-40B4-BE49-F238E27FC236}">
                <a16:creationId xmlns:a16="http://schemas.microsoft.com/office/drawing/2014/main" id="{A026ACCD-8DEA-4AE4-AF9C-7D78132AEE1F}"/>
              </a:ext>
            </a:extLst>
          </p:cNvPr>
          <p:cNvPicPr>
            <a:picLocks noChangeAspect="1"/>
          </p:cNvPicPr>
          <p:nvPr/>
        </p:nvPicPr>
        <p:blipFill>
          <a:blip r:embed="rId3"/>
          <a:stretch>
            <a:fillRect/>
          </a:stretch>
        </p:blipFill>
        <p:spPr>
          <a:xfrm>
            <a:off x="2893415" y="3224945"/>
            <a:ext cx="4426307" cy="3195322"/>
          </a:xfrm>
          <a:prstGeom prst="rect">
            <a:avLst/>
          </a:prstGeom>
        </p:spPr>
      </p:pic>
    </p:spTree>
    <p:extLst>
      <p:ext uri="{BB962C8B-B14F-4D97-AF65-F5344CB8AC3E}">
        <p14:creationId xmlns:p14="http://schemas.microsoft.com/office/powerpoint/2010/main" val="553954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1A1DB0-4F32-42DD-8D71-60EA62035E83}"/>
              </a:ext>
            </a:extLst>
          </p:cNvPr>
          <p:cNvPicPr>
            <a:picLocks noChangeAspect="1"/>
          </p:cNvPicPr>
          <p:nvPr/>
        </p:nvPicPr>
        <p:blipFill>
          <a:blip r:embed="rId2"/>
          <a:stretch>
            <a:fillRect/>
          </a:stretch>
        </p:blipFill>
        <p:spPr>
          <a:xfrm>
            <a:off x="725072" y="628259"/>
            <a:ext cx="5249008" cy="5601482"/>
          </a:xfrm>
          <a:prstGeom prst="rect">
            <a:avLst/>
          </a:prstGeom>
        </p:spPr>
      </p:pic>
      <p:pic>
        <p:nvPicPr>
          <p:cNvPr id="7" name="Picture 6">
            <a:extLst>
              <a:ext uri="{FF2B5EF4-FFF2-40B4-BE49-F238E27FC236}">
                <a16:creationId xmlns:a16="http://schemas.microsoft.com/office/drawing/2014/main" id="{A07048EB-EC57-4B96-8B69-1F82EC077D1D}"/>
              </a:ext>
            </a:extLst>
          </p:cNvPr>
          <p:cNvPicPr>
            <a:picLocks noChangeAspect="1"/>
          </p:cNvPicPr>
          <p:nvPr/>
        </p:nvPicPr>
        <p:blipFill>
          <a:blip r:embed="rId3"/>
          <a:stretch>
            <a:fillRect/>
          </a:stretch>
        </p:blipFill>
        <p:spPr>
          <a:xfrm>
            <a:off x="6532646" y="437732"/>
            <a:ext cx="3353268" cy="5982535"/>
          </a:xfrm>
          <a:prstGeom prst="rect">
            <a:avLst/>
          </a:prstGeom>
        </p:spPr>
      </p:pic>
    </p:spTree>
    <p:extLst>
      <p:ext uri="{BB962C8B-B14F-4D97-AF65-F5344CB8AC3E}">
        <p14:creationId xmlns:p14="http://schemas.microsoft.com/office/powerpoint/2010/main" val="4205214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A7C434D-7C63-4ACC-B05B-FD6D0097519D}"/>
              </a:ext>
            </a:extLst>
          </p:cNvPr>
          <p:cNvGrpSpPr/>
          <p:nvPr/>
        </p:nvGrpSpPr>
        <p:grpSpPr>
          <a:xfrm>
            <a:off x="303890" y="313890"/>
            <a:ext cx="7516375" cy="6230219"/>
            <a:chOff x="486770" y="313890"/>
            <a:chExt cx="7516375" cy="6230219"/>
          </a:xfrm>
        </p:grpSpPr>
        <p:pic>
          <p:nvPicPr>
            <p:cNvPr id="5" name="Picture 4">
              <a:extLst>
                <a:ext uri="{FF2B5EF4-FFF2-40B4-BE49-F238E27FC236}">
                  <a16:creationId xmlns:a16="http://schemas.microsoft.com/office/drawing/2014/main" id="{99667885-89B4-4862-8639-13C960AD8D2E}"/>
                </a:ext>
              </a:extLst>
            </p:cNvPr>
            <p:cNvPicPr>
              <a:picLocks noChangeAspect="1"/>
            </p:cNvPicPr>
            <p:nvPr/>
          </p:nvPicPr>
          <p:blipFill>
            <a:blip r:embed="rId2"/>
            <a:stretch>
              <a:fillRect/>
            </a:stretch>
          </p:blipFill>
          <p:spPr>
            <a:xfrm>
              <a:off x="486770" y="313890"/>
              <a:ext cx="3943900" cy="6230219"/>
            </a:xfrm>
            <a:prstGeom prst="rect">
              <a:avLst/>
            </a:prstGeom>
          </p:spPr>
        </p:pic>
        <p:pic>
          <p:nvPicPr>
            <p:cNvPr id="7" name="Picture 6">
              <a:extLst>
                <a:ext uri="{FF2B5EF4-FFF2-40B4-BE49-F238E27FC236}">
                  <a16:creationId xmlns:a16="http://schemas.microsoft.com/office/drawing/2014/main" id="{7AB94963-0A78-43FE-90AC-E5212CB3E33E}"/>
                </a:ext>
              </a:extLst>
            </p:cNvPr>
            <p:cNvPicPr>
              <a:picLocks noChangeAspect="1"/>
            </p:cNvPicPr>
            <p:nvPr/>
          </p:nvPicPr>
          <p:blipFill>
            <a:blip r:embed="rId3"/>
            <a:stretch>
              <a:fillRect/>
            </a:stretch>
          </p:blipFill>
          <p:spPr>
            <a:xfrm>
              <a:off x="4554614" y="313890"/>
              <a:ext cx="3448531" cy="3534268"/>
            </a:xfrm>
            <a:prstGeom prst="rect">
              <a:avLst/>
            </a:prstGeom>
          </p:spPr>
        </p:pic>
      </p:grpSp>
    </p:spTree>
    <p:extLst>
      <p:ext uri="{BB962C8B-B14F-4D97-AF65-F5344CB8AC3E}">
        <p14:creationId xmlns:p14="http://schemas.microsoft.com/office/powerpoint/2010/main" val="2679003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35B382-BEBF-42CE-927B-86A8FB59BEF0}"/>
              </a:ext>
            </a:extLst>
          </p:cNvPr>
          <p:cNvPicPr>
            <a:picLocks noChangeAspect="1"/>
          </p:cNvPicPr>
          <p:nvPr/>
        </p:nvPicPr>
        <p:blipFill>
          <a:blip r:embed="rId2"/>
          <a:stretch>
            <a:fillRect/>
          </a:stretch>
        </p:blipFill>
        <p:spPr>
          <a:xfrm>
            <a:off x="439180" y="361522"/>
            <a:ext cx="3429479" cy="6134956"/>
          </a:xfrm>
          <a:prstGeom prst="rect">
            <a:avLst/>
          </a:prstGeom>
        </p:spPr>
      </p:pic>
      <p:pic>
        <p:nvPicPr>
          <p:cNvPr id="7" name="Picture 6">
            <a:extLst>
              <a:ext uri="{FF2B5EF4-FFF2-40B4-BE49-F238E27FC236}">
                <a16:creationId xmlns:a16="http://schemas.microsoft.com/office/drawing/2014/main" id="{F2AE002C-F7DC-420A-822B-5E7F9E1A3E9E}"/>
              </a:ext>
            </a:extLst>
          </p:cNvPr>
          <p:cNvPicPr>
            <a:picLocks noChangeAspect="1"/>
          </p:cNvPicPr>
          <p:nvPr/>
        </p:nvPicPr>
        <p:blipFill>
          <a:blip r:embed="rId3"/>
          <a:stretch>
            <a:fillRect/>
          </a:stretch>
        </p:blipFill>
        <p:spPr>
          <a:xfrm>
            <a:off x="4040890" y="552048"/>
            <a:ext cx="3581900" cy="5753903"/>
          </a:xfrm>
          <a:prstGeom prst="rect">
            <a:avLst/>
          </a:prstGeom>
        </p:spPr>
      </p:pic>
      <p:pic>
        <p:nvPicPr>
          <p:cNvPr id="9" name="Picture 8">
            <a:extLst>
              <a:ext uri="{FF2B5EF4-FFF2-40B4-BE49-F238E27FC236}">
                <a16:creationId xmlns:a16="http://schemas.microsoft.com/office/drawing/2014/main" id="{F243F9DE-022D-4D86-A2EE-86B9A859F3F5}"/>
              </a:ext>
            </a:extLst>
          </p:cNvPr>
          <p:cNvPicPr>
            <a:picLocks noChangeAspect="1"/>
          </p:cNvPicPr>
          <p:nvPr/>
        </p:nvPicPr>
        <p:blipFill>
          <a:blip r:embed="rId4"/>
          <a:stretch>
            <a:fillRect/>
          </a:stretch>
        </p:blipFill>
        <p:spPr>
          <a:xfrm>
            <a:off x="7931536" y="809259"/>
            <a:ext cx="3562847" cy="5239481"/>
          </a:xfrm>
          <a:prstGeom prst="rect">
            <a:avLst/>
          </a:prstGeom>
        </p:spPr>
      </p:pic>
    </p:spTree>
    <p:extLst>
      <p:ext uri="{BB962C8B-B14F-4D97-AF65-F5344CB8AC3E}">
        <p14:creationId xmlns:p14="http://schemas.microsoft.com/office/powerpoint/2010/main" val="4237104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A37D0F-4824-4434-BABE-E13FCE717EB4}"/>
              </a:ext>
            </a:extLst>
          </p:cNvPr>
          <p:cNvPicPr>
            <a:picLocks noChangeAspect="1"/>
          </p:cNvPicPr>
          <p:nvPr/>
        </p:nvPicPr>
        <p:blipFill>
          <a:blip r:embed="rId2"/>
          <a:stretch>
            <a:fillRect/>
          </a:stretch>
        </p:blipFill>
        <p:spPr>
          <a:xfrm>
            <a:off x="372496" y="413916"/>
            <a:ext cx="3562847" cy="6030167"/>
          </a:xfrm>
          <a:prstGeom prst="rect">
            <a:avLst/>
          </a:prstGeom>
        </p:spPr>
      </p:pic>
      <p:pic>
        <p:nvPicPr>
          <p:cNvPr id="7" name="Picture 6">
            <a:extLst>
              <a:ext uri="{FF2B5EF4-FFF2-40B4-BE49-F238E27FC236}">
                <a16:creationId xmlns:a16="http://schemas.microsoft.com/office/drawing/2014/main" id="{1733CA7C-B4C6-4565-84C3-20BC5A04D29F}"/>
              </a:ext>
            </a:extLst>
          </p:cNvPr>
          <p:cNvPicPr>
            <a:picLocks noChangeAspect="1"/>
          </p:cNvPicPr>
          <p:nvPr/>
        </p:nvPicPr>
        <p:blipFill>
          <a:blip r:embed="rId3"/>
          <a:stretch>
            <a:fillRect/>
          </a:stretch>
        </p:blipFill>
        <p:spPr>
          <a:xfrm>
            <a:off x="4088828" y="1533260"/>
            <a:ext cx="3648584" cy="3791479"/>
          </a:xfrm>
          <a:prstGeom prst="rect">
            <a:avLst/>
          </a:prstGeom>
        </p:spPr>
      </p:pic>
      <p:pic>
        <p:nvPicPr>
          <p:cNvPr id="9" name="Picture 8">
            <a:extLst>
              <a:ext uri="{FF2B5EF4-FFF2-40B4-BE49-F238E27FC236}">
                <a16:creationId xmlns:a16="http://schemas.microsoft.com/office/drawing/2014/main" id="{B7A0D0C9-8BD5-4A53-9F62-48F0047698DF}"/>
              </a:ext>
            </a:extLst>
          </p:cNvPr>
          <p:cNvPicPr>
            <a:picLocks noChangeAspect="1"/>
          </p:cNvPicPr>
          <p:nvPr/>
        </p:nvPicPr>
        <p:blipFill>
          <a:blip r:embed="rId4"/>
          <a:stretch>
            <a:fillRect/>
          </a:stretch>
        </p:blipFill>
        <p:spPr>
          <a:xfrm>
            <a:off x="8432872" y="542522"/>
            <a:ext cx="3515216" cy="5772956"/>
          </a:xfrm>
          <a:prstGeom prst="rect">
            <a:avLst/>
          </a:prstGeom>
        </p:spPr>
      </p:pic>
    </p:spTree>
    <p:extLst>
      <p:ext uri="{BB962C8B-B14F-4D97-AF65-F5344CB8AC3E}">
        <p14:creationId xmlns:p14="http://schemas.microsoft.com/office/powerpoint/2010/main" val="4288893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92EB33-8FB5-4897-BA48-A059EA79D523}"/>
              </a:ext>
            </a:extLst>
          </p:cNvPr>
          <p:cNvPicPr>
            <a:picLocks noChangeAspect="1"/>
          </p:cNvPicPr>
          <p:nvPr/>
        </p:nvPicPr>
        <p:blipFill>
          <a:blip r:embed="rId2"/>
          <a:stretch>
            <a:fillRect/>
          </a:stretch>
        </p:blipFill>
        <p:spPr>
          <a:xfrm>
            <a:off x="328709" y="156706"/>
            <a:ext cx="3162741" cy="6544588"/>
          </a:xfrm>
          <a:prstGeom prst="rect">
            <a:avLst/>
          </a:prstGeom>
        </p:spPr>
      </p:pic>
    </p:spTree>
    <p:extLst>
      <p:ext uri="{BB962C8B-B14F-4D97-AF65-F5344CB8AC3E}">
        <p14:creationId xmlns:p14="http://schemas.microsoft.com/office/powerpoint/2010/main" val="3999806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1E17CA-6050-4A67-A379-81A98C9C0FE3}"/>
              </a:ext>
            </a:extLst>
          </p:cNvPr>
          <p:cNvSpPr/>
          <p:nvPr/>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0479BC34-4582-4771-8576-953731B4FB4C}"/>
              </a:ext>
            </a:extLst>
          </p:cNvPr>
          <p:cNvSpPr txBox="1"/>
          <p:nvPr/>
        </p:nvSpPr>
        <p:spPr>
          <a:xfrm>
            <a:off x="1391920" y="959901"/>
            <a:ext cx="9408160" cy="369331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chemeClr val="bg1"/>
                </a:solidFill>
                <a:effectLst/>
                <a:latin typeface="Arial" panose="020B0604020202020204" pitchFamily="34" charset="0"/>
              </a:rPr>
              <a:t>CareerMemory는 현재:</a:t>
            </a:r>
            <a:endParaRPr kumimoji="0" lang="en-US"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b="0" i="0" u="none" strike="noStrike" cap="none" normalizeH="0" baseline="0" dirty="0">
                <a:ln>
                  <a:noFill/>
                </a:ln>
                <a:solidFill>
                  <a:schemeClr val="bg1"/>
                </a:solidFill>
                <a:effectLst/>
                <a:latin typeface="Arial" panose="020B0604020202020204" pitchFamily="34" charset="0"/>
              </a:rPr>
              <a:t>정식 온톨로지를 구축한 상태는 아니지만, </a:t>
            </a:r>
            <a:r>
              <a:rPr kumimoji="0" lang="ko-KR" altLang="ko-KR" b="1" i="0" u="none" strike="noStrike" cap="none" normalizeH="0" baseline="0" dirty="0">
                <a:ln>
                  <a:noFill/>
                </a:ln>
                <a:solidFill>
                  <a:schemeClr val="bg1"/>
                </a:solidFill>
                <a:effectLst/>
                <a:latin typeface="Arial" panose="020B0604020202020204" pitchFamily="34" charset="0"/>
              </a:rPr>
              <a:t>경량 도메인 온톨로지에 가까운 의미 구조</a:t>
            </a:r>
            <a:r>
              <a:rPr kumimoji="0" lang="ko-KR" altLang="ko-KR" b="0" i="0" u="none" strike="noStrike" cap="none" normalizeH="0" baseline="0" dirty="0">
                <a:ln>
                  <a:noFill/>
                </a:ln>
                <a:solidFill>
                  <a:schemeClr val="bg1"/>
                </a:solidFill>
                <a:effectLst/>
                <a:latin typeface="Arial" panose="020B0604020202020204" pitchFamily="34" charset="0"/>
              </a:rPr>
              <a:t>를 이미 가지고 있습니다.</a:t>
            </a:r>
            <a:endParaRPr kumimoji="0" lang="en-US"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ko-KR"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b="0" i="0" u="none" strike="noStrike" cap="none" normalizeH="0" baseline="0" dirty="0">
                <a:ln>
                  <a:noFill/>
                </a:ln>
                <a:solidFill>
                  <a:schemeClr val="bg1"/>
                </a:solidFill>
                <a:effectLst/>
                <a:latin typeface="Arial" panose="020B0604020202020204" pitchFamily="34" charset="0"/>
              </a:rPr>
              <a:t>실제 데이터 레이크는 아니지만, </a:t>
            </a:r>
            <a:r>
              <a:rPr kumimoji="0" lang="ko-KR" altLang="ko-KR" b="1" i="0" u="none" strike="noStrike" cap="none" normalizeH="0" baseline="0" dirty="0">
                <a:ln>
                  <a:noFill/>
                </a:ln>
                <a:solidFill>
                  <a:schemeClr val="bg1"/>
                </a:solidFill>
                <a:effectLst/>
                <a:latin typeface="Arial" panose="020B0604020202020204" pitchFamily="34" charset="0"/>
              </a:rPr>
              <a:t>원본 보존·가공 데이터 분리·계보 추적이라는 데이터 레이크 핵심 원칙</a:t>
            </a:r>
            <a:r>
              <a:rPr kumimoji="0" lang="ko-KR" altLang="ko-KR" b="0" i="0" u="none" strike="noStrike" cap="none" normalizeH="0" baseline="0" dirty="0">
                <a:ln>
                  <a:noFill/>
                </a:ln>
                <a:solidFill>
                  <a:schemeClr val="bg1"/>
                </a:solidFill>
                <a:effectLst/>
                <a:latin typeface="Arial" panose="020B0604020202020204" pitchFamily="34" charset="0"/>
              </a:rPr>
              <a:t>을 상당 부분 적용하고 있습니다.</a:t>
            </a:r>
            <a:endParaRPr kumimoji="0" lang="en-US"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ko-KR"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b="0" i="0" u="none" strike="noStrike" cap="none" normalizeH="0" baseline="0" dirty="0">
                <a:ln>
                  <a:noFill/>
                </a:ln>
                <a:solidFill>
                  <a:schemeClr val="bg1"/>
                </a:solidFill>
                <a:effectLst/>
                <a:latin typeface="Arial" panose="020B0604020202020204" pitchFamily="34" charset="0"/>
              </a:rPr>
              <a:t>NLP/NLU 기능도 정상 동작합니다. 다만 정확히 표현하면 </a:t>
            </a:r>
            <a:r>
              <a:rPr kumimoji="0" lang="ko-KR" altLang="ko-KR" b="1" i="0" u="none" strike="noStrike" cap="none" normalizeH="0" baseline="0" dirty="0">
                <a:ln>
                  <a:noFill/>
                </a:ln>
                <a:solidFill>
                  <a:schemeClr val="bg1"/>
                </a:solidFill>
                <a:effectLst/>
                <a:latin typeface="Arial" panose="020B0604020202020204" pitchFamily="34" charset="0"/>
              </a:rPr>
              <a:t>자체 NLP 모델을 학습한 서비스가 아니라, LLM·임베딩·규칙 기반 검증을 결합한 NLU/RAG 시스템</a:t>
            </a:r>
            <a:r>
              <a:rPr kumimoji="0" lang="ko-KR" altLang="ko-KR" b="0" i="0" u="none" strike="noStrike" cap="none" normalizeH="0" baseline="0" dirty="0">
                <a:ln>
                  <a:noFill/>
                </a:ln>
                <a:solidFill>
                  <a:schemeClr val="bg1"/>
                </a:solidFill>
                <a:effectLst/>
                <a:latin typeface="Arial" panose="020B0604020202020204" pitchFamily="34" charset="0"/>
              </a:rPr>
              <a:t>입니다.</a:t>
            </a:r>
            <a:endParaRPr kumimoji="0" lang="en-US"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ko-KR" altLang="ko-KR"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chemeClr val="bg1"/>
                </a:solidFill>
                <a:effectLst/>
                <a:latin typeface="Arial" panose="020B0604020202020204" pitchFamily="34" charset="0"/>
              </a:rPr>
              <a:t>현재 구조를 가장 정확하게 부르면 다음과 같습니다.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chemeClr val="bg1"/>
                </a:solidFill>
                <a:effectLst/>
                <a:latin typeface="Arial" panose="020B0604020202020204" pitchFamily="34" charset="0"/>
              </a:rPr>
              <a:t>원문 근거 중심의 Career Knowledge Base와 경량 온톨로지, RAG 검색 계층을 결합한 구조</a:t>
            </a:r>
          </a:p>
        </p:txBody>
      </p:sp>
    </p:spTree>
    <p:extLst>
      <p:ext uri="{BB962C8B-B14F-4D97-AF65-F5344CB8AC3E}">
        <p14:creationId xmlns:p14="http://schemas.microsoft.com/office/powerpoint/2010/main" val="3644723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7EACFEA-8513-4523-983A-33C10A217CC3}"/>
              </a:ext>
            </a:extLst>
          </p:cNvPr>
          <p:cNvGraphicFramePr>
            <a:graphicFrameLocks noGrp="1"/>
          </p:cNvGraphicFramePr>
          <p:nvPr>
            <p:extLst>
              <p:ext uri="{D42A27DB-BD31-4B8C-83A1-F6EECF244321}">
                <p14:modId xmlns:p14="http://schemas.microsoft.com/office/powerpoint/2010/main" val="570660315"/>
              </p:ext>
            </p:extLst>
          </p:nvPr>
        </p:nvGraphicFramePr>
        <p:xfrm>
          <a:off x="301079" y="544525"/>
          <a:ext cx="7890420" cy="2884475"/>
        </p:xfrm>
        <a:graphic>
          <a:graphicData uri="http://schemas.openxmlformats.org/drawingml/2006/table">
            <a:tbl>
              <a:tblPr/>
              <a:tblGrid>
                <a:gridCol w="2033156">
                  <a:extLst>
                    <a:ext uri="{9D8B030D-6E8A-4147-A177-3AD203B41FA5}">
                      <a16:colId xmlns:a16="http://schemas.microsoft.com/office/drawing/2014/main" val="3397093076"/>
                    </a:ext>
                  </a:extLst>
                </a:gridCol>
                <a:gridCol w="5857264">
                  <a:extLst>
                    <a:ext uri="{9D8B030D-6E8A-4147-A177-3AD203B41FA5}">
                      <a16:colId xmlns:a16="http://schemas.microsoft.com/office/drawing/2014/main" val="1679341469"/>
                    </a:ext>
                  </a:extLst>
                </a:gridCol>
              </a:tblGrid>
              <a:tr h="193115">
                <a:tc>
                  <a:txBody>
                    <a:bodyPr/>
                    <a:lstStyle/>
                    <a:p>
                      <a:r>
                        <a:rPr lang="ko-KR" altLang="en-US" sz="1400"/>
                        <a:t>온톨로지 요소</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400" dirty="0"/>
                        <a:t>현재 구현</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0318229"/>
                  </a:ext>
                </a:extLst>
              </a:tr>
              <a:tr h="337951">
                <a:tc>
                  <a:txBody>
                    <a:bodyPr/>
                    <a:lstStyle/>
                    <a:p>
                      <a:r>
                        <a:rPr lang="ko-KR" altLang="en-US" sz="1400"/>
                        <a:t>개념</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Experience, Project, Skill, Metric, </a:t>
                      </a:r>
                      <a:r>
                        <a:rPr lang="en-US" sz="1400" dirty="0" err="1"/>
                        <a:t>JobRequirement</a:t>
                      </a:r>
                      <a:r>
                        <a:rPr lang="en-US" sz="1400" dirty="0"/>
                        <a:t>, Evidence</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3743032"/>
                  </a:ext>
                </a:extLst>
              </a:tr>
              <a:tr h="337951">
                <a:tc>
                  <a:txBody>
                    <a:bodyPr/>
                    <a:lstStyle/>
                    <a:p>
                      <a:r>
                        <a:rPr lang="ko-KR" altLang="en-US" sz="1400"/>
                        <a:t>식별자</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Experience ID, source reference ID, canonical skill ID</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9516290"/>
                  </a:ext>
                </a:extLst>
              </a:tr>
              <a:tr h="193115">
                <a:tc>
                  <a:txBody>
                    <a:bodyPr/>
                    <a:lstStyle/>
                    <a:p>
                      <a:r>
                        <a:rPr lang="ko-KR" altLang="en-US" sz="1400"/>
                        <a:t>별칭</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ko-KR" altLang="en-US" sz="1400" dirty="0"/>
                        <a:t>페스트</a:t>
                      </a:r>
                      <a:r>
                        <a:rPr lang="en-US" sz="1400" dirty="0"/>
                        <a:t>API → </a:t>
                      </a:r>
                      <a:r>
                        <a:rPr lang="en-US" sz="1400" dirty="0" err="1"/>
                        <a:t>FastAPI</a:t>
                      </a:r>
                      <a:r>
                        <a:rPr lang="en-US" sz="1400" dirty="0"/>
                        <a:t>, JS → JavaScript</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051644"/>
                  </a:ext>
                </a:extLst>
              </a:tr>
              <a:tr h="337951">
                <a:tc>
                  <a:txBody>
                    <a:bodyPr/>
                    <a:lstStyle/>
                    <a:p>
                      <a:r>
                        <a:rPr lang="ko-KR" altLang="en-US" sz="1400"/>
                        <a:t>관계</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Experience–Skill, Requirement–Skill, Requirement–Experience</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5490773"/>
                  </a:ext>
                </a:extLst>
              </a:tr>
              <a:tr h="193115">
                <a:tc>
                  <a:txBody>
                    <a:bodyPr/>
                    <a:lstStyle/>
                    <a:p>
                      <a:r>
                        <a:rPr lang="ko-KR" altLang="en-US" sz="1400"/>
                        <a:t>관계 유형</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exact, alias, related, unresolved</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2225374"/>
                  </a:ext>
                </a:extLst>
              </a:tr>
              <a:tr h="337951">
                <a:tc>
                  <a:txBody>
                    <a:bodyPr/>
                    <a:lstStyle/>
                    <a:p>
                      <a:r>
                        <a:rPr lang="ko-KR" altLang="en-US" sz="1400"/>
                        <a:t>제약 규칙</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400"/>
                        <a:t>related </a:t>
                      </a:r>
                      <a:r>
                        <a:rPr lang="ko-KR" altLang="en-US" sz="1400"/>
                        <a:t>기술은 필수 기술 충족으로 인정하지 않음</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4357343"/>
                  </a:ext>
                </a:extLst>
              </a:tr>
              <a:tr h="337951">
                <a:tc>
                  <a:txBody>
                    <a:bodyPr/>
                    <a:lstStyle/>
                    <a:p>
                      <a:r>
                        <a:rPr lang="ko-KR" altLang="en-US" sz="1400"/>
                        <a:t>출처</a:t>
                      </a:r>
                      <a:r>
                        <a:rPr lang="en-US" altLang="ko-KR" sz="1400"/>
                        <a:t>·</a:t>
                      </a:r>
                      <a:r>
                        <a:rPr lang="ko-KR" altLang="en-US" sz="1400"/>
                        <a:t>계보</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source reference, exact quote, citation, model/schema/index version</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5232753"/>
                  </a:ext>
                </a:extLst>
              </a:tr>
              <a:tr h="193115">
                <a:tc>
                  <a:txBody>
                    <a:bodyPr/>
                    <a:lstStyle/>
                    <a:p>
                      <a:r>
                        <a:rPr lang="ko-KR" altLang="en-US" sz="1400"/>
                        <a:t>미분류 개념</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ko-KR" sz="1400" dirty="0"/>
                        <a:t>unresolved</a:t>
                      </a:r>
                      <a:r>
                        <a:rPr lang="ko-KR" altLang="en-US" sz="1400" dirty="0"/>
                        <a:t>로 원문을 보존</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876417"/>
                  </a:ext>
                </a:extLst>
              </a:tr>
            </a:tbl>
          </a:graphicData>
        </a:graphic>
      </p:graphicFrame>
      <p:pic>
        <p:nvPicPr>
          <p:cNvPr id="6" name="Picture 5">
            <a:extLst>
              <a:ext uri="{FF2B5EF4-FFF2-40B4-BE49-F238E27FC236}">
                <a16:creationId xmlns:a16="http://schemas.microsoft.com/office/drawing/2014/main" id="{0F08FCC7-86E7-4043-A643-0954FF9A88BD}"/>
              </a:ext>
            </a:extLst>
          </p:cNvPr>
          <p:cNvPicPr>
            <a:picLocks noChangeAspect="1"/>
          </p:cNvPicPr>
          <p:nvPr/>
        </p:nvPicPr>
        <p:blipFill>
          <a:blip r:embed="rId2"/>
          <a:stretch>
            <a:fillRect/>
          </a:stretch>
        </p:blipFill>
        <p:spPr>
          <a:xfrm>
            <a:off x="8646977" y="414917"/>
            <a:ext cx="1933845" cy="3143689"/>
          </a:xfrm>
          <a:prstGeom prst="rect">
            <a:avLst/>
          </a:prstGeom>
        </p:spPr>
      </p:pic>
      <p:sp>
        <p:nvSpPr>
          <p:cNvPr id="9" name="TextBox 8">
            <a:extLst>
              <a:ext uri="{FF2B5EF4-FFF2-40B4-BE49-F238E27FC236}">
                <a16:creationId xmlns:a16="http://schemas.microsoft.com/office/drawing/2014/main" id="{FB2B2ADD-D4F5-4224-910B-1C58865E9219}"/>
              </a:ext>
            </a:extLst>
          </p:cNvPr>
          <p:cNvSpPr txBox="1"/>
          <p:nvPr/>
        </p:nvSpPr>
        <p:spPr>
          <a:xfrm>
            <a:off x="301079" y="3686162"/>
            <a:ext cx="10913021" cy="289310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아직 “정식 온톨로지”라고 부르기에는 부족한 부분이 있습니다.</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기술 개념이 DB가 아니라 코드 레지스트리에 고정돼 있음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Skill, Role, Organization 등이 독립적인 영속 엔티티가 아님</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개념 계층과 관계 유형이 아직 제한적임</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온톨로지 버전과 변경 이력이 별도로 관리되지 않음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추론 엔진이나 그래프 질의가 없음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RDF, OWL, SKOS와 같은 표준 온톨로지 표현을 사용하지 않음</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ko-KR"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따라서 포트폴리오에서는 다음처럼 표현하는 게 정확합니다.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기술 별칭·관련 관계·미해결 표현을 관리하는 경량 도메인 온톨로지와 원문 근거 기반 의미 모델을 설계했다.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“온톨로지를 완성했다” 또는 “지식 그래프를 구축했다”는 아직 과한 표현입니다. 그리고 LangGraph는 분석 절차를 연결하는 워크플로 그래프이지, 지식 그래프는 아닙니다.</a:t>
            </a:r>
          </a:p>
        </p:txBody>
      </p:sp>
      <p:sp>
        <p:nvSpPr>
          <p:cNvPr id="10" name="TextBox 9">
            <a:extLst>
              <a:ext uri="{FF2B5EF4-FFF2-40B4-BE49-F238E27FC236}">
                <a16:creationId xmlns:a16="http://schemas.microsoft.com/office/drawing/2014/main" id="{76BFD3E9-50C1-4039-A262-663ED86A6D19}"/>
              </a:ext>
            </a:extLst>
          </p:cNvPr>
          <p:cNvSpPr txBox="1"/>
          <p:nvPr/>
        </p:nvSpPr>
        <p:spPr>
          <a:xfrm>
            <a:off x="301079" y="177800"/>
            <a:ext cx="1651414" cy="369332"/>
          </a:xfrm>
          <a:prstGeom prst="rect">
            <a:avLst/>
          </a:prstGeom>
          <a:noFill/>
        </p:spPr>
        <p:txBody>
          <a:bodyPr wrap="none" rtlCol="0">
            <a:spAutoFit/>
          </a:bodyPr>
          <a:lstStyle/>
          <a:p>
            <a:r>
              <a:rPr lang="ko-KR" altLang="en-US" b="1" dirty="0">
                <a:highlight>
                  <a:srgbClr val="FFFF00"/>
                </a:highlight>
              </a:rPr>
              <a:t>온톨로지 관점</a:t>
            </a:r>
          </a:p>
        </p:txBody>
      </p:sp>
    </p:spTree>
    <p:extLst>
      <p:ext uri="{BB962C8B-B14F-4D97-AF65-F5344CB8AC3E}">
        <p14:creationId xmlns:p14="http://schemas.microsoft.com/office/powerpoint/2010/main" val="3274704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6BFD3E9-50C1-4039-A262-663ED86A6D19}"/>
              </a:ext>
            </a:extLst>
          </p:cNvPr>
          <p:cNvSpPr txBox="1"/>
          <p:nvPr/>
        </p:nvSpPr>
        <p:spPr>
          <a:xfrm>
            <a:off x="301079" y="177800"/>
            <a:ext cx="2194832" cy="369332"/>
          </a:xfrm>
          <a:prstGeom prst="rect">
            <a:avLst/>
          </a:prstGeom>
          <a:noFill/>
        </p:spPr>
        <p:txBody>
          <a:bodyPr wrap="none" rtlCol="0">
            <a:spAutoFit/>
          </a:bodyPr>
          <a:lstStyle/>
          <a:p>
            <a:r>
              <a:rPr lang="ko-KR" altLang="en-US" b="1" dirty="0">
                <a:highlight>
                  <a:srgbClr val="FFFF00"/>
                </a:highlight>
              </a:rPr>
              <a:t>데이터 레이크 관점</a:t>
            </a:r>
          </a:p>
        </p:txBody>
      </p:sp>
      <p:sp>
        <p:nvSpPr>
          <p:cNvPr id="7" name="TextBox 6">
            <a:extLst>
              <a:ext uri="{FF2B5EF4-FFF2-40B4-BE49-F238E27FC236}">
                <a16:creationId xmlns:a16="http://schemas.microsoft.com/office/drawing/2014/main" id="{958478B6-C347-49D3-AA68-A125163FEDEA}"/>
              </a:ext>
            </a:extLst>
          </p:cNvPr>
          <p:cNvSpPr txBox="1"/>
          <p:nvPr/>
        </p:nvSpPr>
        <p:spPr>
          <a:xfrm>
            <a:off x="301079" y="547132"/>
            <a:ext cx="10325100" cy="646331"/>
          </a:xfrm>
          <a:prstGeom prst="rect">
            <a:avLst/>
          </a:prstGeom>
          <a:noFill/>
        </p:spPr>
        <p:txBody>
          <a:bodyPr wrap="square">
            <a:spAutoFit/>
          </a:bodyPr>
          <a:lstStyle/>
          <a:p>
            <a:r>
              <a:rPr lang="en-US" altLang="ko-KR"/>
              <a:t>CareerMemory</a:t>
            </a:r>
            <a:r>
              <a:rPr lang="ko-KR" altLang="en-US"/>
              <a:t>는 데이터 레이크와 잘 맞는 도메인</a:t>
            </a:r>
            <a:endParaRPr lang="en-US" altLang="ko-KR"/>
          </a:p>
          <a:p>
            <a:r>
              <a:rPr lang="ko-KR" altLang="en-US"/>
              <a:t>한 사용자의 커리어 정보에는 다음처럼 이질적인 데이터가 계속 쌓이기 때문</a:t>
            </a:r>
            <a:endParaRPr lang="ko-KR" altLang="en-US" dirty="0"/>
          </a:p>
        </p:txBody>
      </p:sp>
      <p:sp>
        <p:nvSpPr>
          <p:cNvPr id="11" name="TextBox 10">
            <a:extLst>
              <a:ext uri="{FF2B5EF4-FFF2-40B4-BE49-F238E27FC236}">
                <a16:creationId xmlns:a16="http://schemas.microsoft.com/office/drawing/2014/main" id="{DCB66CF0-48E5-4D4A-B262-5C4390F0F7BF}"/>
              </a:ext>
            </a:extLst>
          </p:cNvPr>
          <p:cNvSpPr txBox="1"/>
          <p:nvPr/>
        </p:nvSpPr>
        <p:spPr>
          <a:xfrm>
            <a:off x="301079" y="1193463"/>
            <a:ext cx="6096000" cy="2246769"/>
          </a:xfrm>
          <a:prstGeom prst="rect">
            <a:avLst/>
          </a:prstGeom>
          <a:noFill/>
        </p:spPr>
        <p:txBody>
          <a:bodyPr wrap="square">
            <a:spAutoFit/>
          </a:bodyPr>
          <a:lstStyle/>
          <a:p>
            <a:pPr>
              <a:buFont typeface="Arial" panose="020B0604020202020204" pitchFamily="34" charset="0"/>
              <a:buChar char="•"/>
            </a:pPr>
            <a:r>
              <a:rPr lang="ko-KR" altLang="en-US" sz="1400" dirty="0"/>
              <a:t>대화 원문</a:t>
            </a:r>
          </a:p>
          <a:p>
            <a:pPr>
              <a:buFont typeface="Arial" panose="020B0604020202020204" pitchFamily="34" charset="0"/>
              <a:buChar char="•"/>
            </a:pPr>
            <a:r>
              <a:rPr lang="en-US" altLang="ko-KR" sz="1400" dirty="0"/>
              <a:t>PDF·TXT·</a:t>
            </a:r>
            <a:r>
              <a:rPr lang="ko-KR" altLang="en-US" sz="1400" dirty="0"/>
              <a:t>이미지</a:t>
            </a:r>
          </a:p>
          <a:p>
            <a:pPr>
              <a:buFont typeface="Arial" panose="020B0604020202020204" pitchFamily="34" charset="0"/>
              <a:buChar char="•"/>
            </a:pPr>
            <a:r>
              <a:rPr lang="ko-KR" altLang="en-US" sz="1400" dirty="0"/>
              <a:t>채용공고</a:t>
            </a:r>
          </a:p>
          <a:p>
            <a:pPr>
              <a:buFont typeface="Arial" panose="020B0604020202020204" pitchFamily="34" charset="0"/>
              <a:buChar char="•"/>
            </a:pPr>
            <a:r>
              <a:rPr lang="en-US" altLang="ko-KR" sz="1400" dirty="0"/>
              <a:t>OCR·</a:t>
            </a:r>
            <a:r>
              <a:rPr lang="ko-KR" altLang="en-US" sz="1400" dirty="0"/>
              <a:t>파싱 결과</a:t>
            </a:r>
          </a:p>
          <a:p>
            <a:pPr>
              <a:buFont typeface="Arial" panose="020B0604020202020204" pitchFamily="34" charset="0"/>
              <a:buChar char="•"/>
            </a:pPr>
            <a:r>
              <a:rPr lang="en-US" altLang="ko-KR" sz="1400" dirty="0"/>
              <a:t>AI </a:t>
            </a:r>
            <a:r>
              <a:rPr lang="ko-KR" altLang="en-US" sz="1400" dirty="0"/>
              <a:t>분석 결과</a:t>
            </a:r>
          </a:p>
          <a:p>
            <a:pPr>
              <a:buFont typeface="Arial" panose="020B0604020202020204" pitchFamily="34" charset="0"/>
              <a:buChar char="•"/>
            </a:pPr>
            <a:r>
              <a:rPr lang="ko-KR" altLang="en-US" sz="1400" dirty="0"/>
              <a:t>구조화된 경험</a:t>
            </a:r>
          </a:p>
          <a:p>
            <a:pPr>
              <a:buFont typeface="Arial" panose="020B0604020202020204" pitchFamily="34" charset="0"/>
              <a:buChar char="•"/>
            </a:pPr>
            <a:r>
              <a:rPr lang="ko-KR" altLang="en-US" sz="1400" dirty="0"/>
              <a:t>기술</a:t>
            </a:r>
            <a:r>
              <a:rPr lang="en-US" altLang="ko-KR" sz="1400" dirty="0"/>
              <a:t>·</a:t>
            </a:r>
            <a:r>
              <a:rPr lang="ko-KR" altLang="en-US" sz="1400" dirty="0"/>
              <a:t>성과 지표</a:t>
            </a:r>
          </a:p>
          <a:p>
            <a:pPr>
              <a:buFont typeface="Arial" panose="020B0604020202020204" pitchFamily="34" charset="0"/>
              <a:buChar char="•"/>
            </a:pPr>
            <a:r>
              <a:rPr lang="ko-KR" altLang="en-US" sz="1400" dirty="0"/>
              <a:t>임베딩 벡터</a:t>
            </a:r>
          </a:p>
          <a:p>
            <a:pPr>
              <a:buFont typeface="Arial" panose="020B0604020202020204" pitchFamily="34" charset="0"/>
              <a:buChar char="•"/>
            </a:pPr>
            <a:r>
              <a:rPr lang="ko-KR" altLang="en-US" sz="1400" dirty="0"/>
              <a:t>경험과 공고의 연결 관계</a:t>
            </a:r>
          </a:p>
          <a:p>
            <a:r>
              <a:rPr lang="ko-KR" altLang="en-US" sz="1400" dirty="0"/>
              <a:t>현재도 원본과 가공 데이터를 분리</a:t>
            </a:r>
          </a:p>
        </p:txBody>
      </p:sp>
      <p:pic>
        <p:nvPicPr>
          <p:cNvPr id="8" name="Picture 7">
            <a:extLst>
              <a:ext uri="{FF2B5EF4-FFF2-40B4-BE49-F238E27FC236}">
                <a16:creationId xmlns:a16="http://schemas.microsoft.com/office/drawing/2014/main" id="{B4B7E45A-1AEA-4ED0-A202-27C906734B5C}"/>
              </a:ext>
            </a:extLst>
          </p:cNvPr>
          <p:cNvPicPr>
            <a:picLocks noChangeAspect="1"/>
          </p:cNvPicPr>
          <p:nvPr/>
        </p:nvPicPr>
        <p:blipFill>
          <a:blip r:embed="rId2"/>
          <a:stretch>
            <a:fillRect/>
          </a:stretch>
        </p:blipFill>
        <p:spPr>
          <a:xfrm>
            <a:off x="4715421" y="1464041"/>
            <a:ext cx="5029902" cy="2876951"/>
          </a:xfrm>
          <a:prstGeom prst="rect">
            <a:avLst/>
          </a:prstGeom>
        </p:spPr>
      </p:pic>
      <p:grpSp>
        <p:nvGrpSpPr>
          <p:cNvPr id="17" name="Group 16">
            <a:extLst>
              <a:ext uri="{FF2B5EF4-FFF2-40B4-BE49-F238E27FC236}">
                <a16:creationId xmlns:a16="http://schemas.microsoft.com/office/drawing/2014/main" id="{0FDDD2CA-296E-4868-91C5-BF98EAF3EDCB}"/>
              </a:ext>
            </a:extLst>
          </p:cNvPr>
          <p:cNvGrpSpPr/>
          <p:nvPr/>
        </p:nvGrpSpPr>
        <p:grpSpPr>
          <a:xfrm>
            <a:off x="301079" y="4479491"/>
            <a:ext cx="6096000" cy="1969770"/>
            <a:chOff x="301079" y="4717534"/>
            <a:chExt cx="6096000" cy="1969770"/>
          </a:xfrm>
        </p:grpSpPr>
        <p:sp>
          <p:nvSpPr>
            <p:cNvPr id="13" name="TextBox 12">
              <a:extLst>
                <a:ext uri="{FF2B5EF4-FFF2-40B4-BE49-F238E27FC236}">
                  <a16:creationId xmlns:a16="http://schemas.microsoft.com/office/drawing/2014/main" id="{BD55ACEC-6896-4ABB-BE22-AF63CB2CEA01}"/>
                </a:ext>
              </a:extLst>
            </p:cNvPr>
            <p:cNvSpPr txBox="1"/>
            <p:nvPr/>
          </p:nvSpPr>
          <p:spPr>
            <a:xfrm>
              <a:off x="301079" y="4717534"/>
              <a:ext cx="6096000" cy="369332"/>
            </a:xfrm>
            <a:prstGeom prst="rect">
              <a:avLst/>
            </a:prstGeom>
            <a:noFill/>
          </p:spPr>
          <p:txBody>
            <a:bodyPr wrap="square">
              <a:spAutoFit/>
            </a:bodyPr>
            <a:lstStyle/>
            <a:p>
              <a:r>
                <a:rPr lang="ko-KR" altLang="en-US" dirty="0"/>
                <a:t>데이터 레이크 친화적인 기반</a:t>
              </a:r>
            </a:p>
          </p:txBody>
        </p:sp>
        <p:sp>
          <p:nvSpPr>
            <p:cNvPr id="16" name="TextBox 15">
              <a:extLst>
                <a:ext uri="{FF2B5EF4-FFF2-40B4-BE49-F238E27FC236}">
                  <a16:creationId xmlns:a16="http://schemas.microsoft.com/office/drawing/2014/main" id="{2CCB04E5-8FF8-4F8A-AF76-80D1F2D9200B}"/>
                </a:ext>
              </a:extLst>
            </p:cNvPr>
            <p:cNvSpPr txBox="1"/>
            <p:nvPr/>
          </p:nvSpPr>
          <p:spPr>
            <a:xfrm>
              <a:off x="301079" y="5086866"/>
              <a:ext cx="6096000" cy="160043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첨부파일 원본 바이너리와 추출 텍스트를 함께 보존</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SHA-256 해시와 파서 버전 관리</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AI 요약이 원문을 대체하지 않음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exact quote와 source ID로 결과를 역추적</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모델·프롬프트·스키마·인덱스 버전 기록</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원문과 정규화 projection을 동시에 보존</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경험 검색 인덱스와 근거 검색 인덱스 분리 </a:t>
              </a:r>
            </a:p>
          </p:txBody>
        </p:sp>
      </p:grpSp>
      <p:sp>
        <p:nvSpPr>
          <p:cNvPr id="20" name="TextBox 19">
            <a:extLst>
              <a:ext uri="{FF2B5EF4-FFF2-40B4-BE49-F238E27FC236}">
                <a16:creationId xmlns:a16="http://schemas.microsoft.com/office/drawing/2014/main" id="{0320CB37-57A6-4CAA-B4D5-A78C3F505BB5}"/>
              </a:ext>
            </a:extLst>
          </p:cNvPr>
          <p:cNvSpPr txBox="1"/>
          <p:nvPr/>
        </p:nvSpPr>
        <p:spPr>
          <a:xfrm>
            <a:off x="4715421" y="4510269"/>
            <a:ext cx="7175500" cy="212365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FF0000"/>
                </a:solidFill>
                <a:effectLst/>
                <a:latin typeface="Arial" panose="020B0604020202020204" pitchFamily="34" charset="0"/>
              </a:rPr>
              <a:t>하지만 현재는 엄밀한 의미의 데이터 레이크는 아닙니다.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원본이 S3·MinIO 같은 객체 저장소가 아니라 SQLite BLOB 및 DB에 저장됨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Bronze/Silver/Gold 영역이 물리적으로 분리되지 않음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데이터 카탈로그가 없음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EvidenceDocument, EvidenceChunk, EmbeddingRecord가 정규 DB 엔티티로 완전히 승격되지 않음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0" i="0" u="none" strike="noStrike" cap="none" normalizeH="0" baseline="0" dirty="0">
                <a:ln>
                  <a:noFill/>
                </a:ln>
                <a:solidFill>
                  <a:schemeClr val="tx1"/>
                </a:solidFill>
                <a:effectLst/>
                <a:latin typeface="Arial" panose="020B0604020202020204" pitchFamily="34" charset="0"/>
              </a:rPr>
              <a:t>대규모 분산 수집·변환 파이프라인 구조는 아님</a:t>
            </a:r>
            <a:endParaRPr kumimoji="0" lang="en-US"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ko-KR" altLang="ko-K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현재 구조는 데이터 레이크보다는 다음에 더 가깝습니다.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FF0000"/>
                </a:solidFill>
                <a:effectLst/>
                <a:latin typeface="Arial" panose="020B0604020202020204" pitchFamily="34" charset="0"/>
              </a:rPr>
              <a:t>관계형 DB + JSON 문서 + 벡터 인덱스를 결합한 다중 저장소 기반 지식 시스템</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chemeClr val="tx1"/>
                </a:solidFill>
                <a:effectLst/>
                <a:latin typeface="Arial" panose="020B0604020202020204" pitchFamily="34" charset="0"/>
              </a:rPr>
              <a:t>즉, “데이터 레이크를 구축했다”보다는 다음 표현이 좋습니다.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FF0000"/>
                </a:solidFill>
                <a:effectLst/>
                <a:latin typeface="Arial" panose="020B0604020202020204" pitchFamily="34" charset="0"/>
              </a:rPr>
              <a:t>데이터 레이크의 원본 보존·계층화·데이터 계보 원칙을 적용한 근거 중심 데이터 구조를 설계했다.</a:t>
            </a:r>
          </a:p>
        </p:txBody>
      </p:sp>
    </p:spTree>
    <p:extLst>
      <p:ext uri="{BB962C8B-B14F-4D97-AF65-F5344CB8AC3E}">
        <p14:creationId xmlns:p14="http://schemas.microsoft.com/office/powerpoint/2010/main" val="2360086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C0E572-3575-451B-B81C-336C3E80E788}"/>
              </a:ext>
            </a:extLst>
          </p:cNvPr>
          <p:cNvSpPr txBox="1"/>
          <p:nvPr/>
        </p:nvSpPr>
        <p:spPr>
          <a:xfrm>
            <a:off x="3048000" y="751344"/>
            <a:ext cx="6096000" cy="5355312"/>
          </a:xfrm>
          <a:prstGeom prst="rect">
            <a:avLst/>
          </a:prstGeom>
          <a:noFill/>
        </p:spPr>
        <p:txBody>
          <a:bodyPr wrap="square">
            <a:spAutoFit/>
          </a:bodyPr>
          <a:lstStyle/>
          <a:p>
            <a:r>
              <a:rPr lang="en-US" altLang="ko-KR" b="1" dirty="0"/>
              <a:t>NLP</a:t>
            </a:r>
            <a:r>
              <a:rPr lang="ko-KR" altLang="en-US" b="1" dirty="0"/>
              <a:t>와 </a:t>
            </a:r>
            <a:r>
              <a:rPr lang="en-US" altLang="ko-KR" b="1" dirty="0"/>
              <a:t>NLU</a:t>
            </a:r>
            <a:r>
              <a:rPr lang="ko-KR" altLang="en-US" b="1" dirty="0"/>
              <a:t>는 정상적으로 동작하는가</a:t>
            </a:r>
            <a:r>
              <a:rPr lang="en-US" altLang="ko-KR" b="1" dirty="0"/>
              <a:t>?</a:t>
            </a:r>
          </a:p>
          <a:p>
            <a:r>
              <a:rPr lang="ko-KR" altLang="en-US" dirty="0"/>
              <a:t>현재 구현은 </a:t>
            </a:r>
            <a:r>
              <a:rPr lang="en-US" altLang="ko-KR" dirty="0"/>
              <a:t>NLP</a:t>
            </a:r>
            <a:r>
              <a:rPr lang="ko-KR" altLang="en-US" dirty="0"/>
              <a:t>와 </a:t>
            </a:r>
            <a:r>
              <a:rPr lang="en-US" altLang="ko-KR" dirty="0"/>
              <a:t>NLU </a:t>
            </a:r>
            <a:r>
              <a:rPr lang="ko-KR" altLang="en-US" dirty="0"/>
              <a:t>기능을 모두 포함하고 있으며</a:t>
            </a:r>
            <a:r>
              <a:rPr lang="en-US" altLang="ko-KR" dirty="0"/>
              <a:t>, </a:t>
            </a:r>
            <a:r>
              <a:rPr lang="ko-KR" altLang="en-US" dirty="0"/>
              <a:t>현 단계에서는 정상 동작한다고 판단할 수 있습니다</a:t>
            </a:r>
            <a:r>
              <a:rPr lang="en-US" altLang="ko-KR" dirty="0"/>
              <a:t>.</a:t>
            </a:r>
          </a:p>
          <a:p>
            <a:r>
              <a:rPr lang="en-US" altLang="ko-KR" dirty="0"/>
              <a:t>NLP</a:t>
            </a:r>
            <a:r>
              <a:rPr lang="ko-KR" altLang="en-US" dirty="0"/>
              <a:t>에 해당하는 부분</a:t>
            </a:r>
            <a:r>
              <a:rPr lang="en-US" altLang="ko-KR" dirty="0"/>
              <a:t>:</a:t>
            </a:r>
          </a:p>
          <a:p>
            <a:pPr>
              <a:buFont typeface="Arial" panose="020B0604020202020204" pitchFamily="34" charset="0"/>
              <a:buChar char="•"/>
            </a:pPr>
            <a:r>
              <a:rPr lang="en-US" altLang="ko-KR" dirty="0"/>
              <a:t>PDF·TXT·</a:t>
            </a:r>
            <a:r>
              <a:rPr lang="ko-KR" altLang="en-US" dirty="0"/>
              <a:t>이미지 텍스트 추출</a:t>
            </a:r>
          </a:p>
          <a:p>
            <a:pPr>
              <a:buFont typeface="Arial" panose="020B0604020202020204" pitchFamily="34" charset="0"/>
              <a:buChar char="•"/>
            </a:pPr>
            <a:r>
              <a:rPr lang="ko-KR" altLang="en-US" dirty="0"/>
              <a:t>긴 문서 청킹</a:t>
            </a:r>
          </a:p>
          <a:p>
            <a:pPr>
              <a:buFont typeface="Arial" panose="020B0604020202020204" pitchFamily="34" charset="0"/>
              <a:buChar char="•"/>
            </a:pPr>
            <a:r>
              <a:rPr lang="ko-KR" altLang="en-US" dirty="0"/>
              <a:t>임베딩 및 유사도 검색</a:t>
            </a:r>
          </a:p>
          <a:p>
            <a:pPr>
              <a:buFont typeface="Arial" panose="020B0604020202020204" pitchFamily="34" charset="0"/>
              <a:buChar char="•"/>
            </a:pPr>
            <a:r>
              <a:rPr lang="ko-KR" altLang="en-US" dirty="0"/>
              <a:t>키워드와 기술명 정규화</a:t>
            </a:r>
          </a:p>
          <a:p>
            <a:pPr>
              <a:buFont typeface="Arial" panose="020B0604020202020204" pitchFamily="34" charset="0"/>
              <a:buChar char="•"/>
            </a:pPr>
            <a:r>
              <a:rPr lang="ko-KR" altLang="en-US" dirty="0"/>
              <a:t>한국어 수치 표현 파싱</a:t>
            </a:r>
          </a:p>
          <a:p>
            <a:pPr>
              <a:buFont typeface="Arial" panose="020B0604020202020204" pitchFamily="34" charset="0"/>
              <a:buChar char="•"/>
            </a:pPr>
            <a:r>
              <a:rPr lang="en-US" altLang="ko-KR" dirty="0"/>
              <a:t>lexical fallback </a:t>
            </a:r>
            <a:r>
              <a:rPr lang="ko-KR" altLang="en-US" dirty="0"/>
              <a:t>검색</a:t>
            </a:r>
          </a:p>
          <a:p>
            <a:r>
              <a:rPr lang="en-US" altLang="ko-KR" dirty="0"/>
              <a:t>NLU</a:t>
            </a:r>
            <a:r>
              <a:rPr lang="ko-KR" altLang="en-US" dirty="0"/>
              <a:t>에 해당하는 부분</a:t>
            </a:r>
            <a:r>
              <a:rPr lang="en-US" altLang="ko-KR" dirty="0"/>
              <a:t>:</a:t>
            </a:r>
          </a:p>
          <a:p>
            <a:pPr>
              <a:buFont typeface="Arial" panose="020B0604020202020204" pitchFamily="34" charset="0"/>
              <a:buChar char="•"/>
            </a:pPr>
            <a:r>
              <a:rPr lang="ko-KR" altLang="en-US" dirty="0"/>
              <a:t>일반 대화</a:t>
            </a:r>
            <a:r>
              <a:rPr lang="en-US" altLang="ko-KR" dirty="0"/>
              <a:t>·</a:t>
            </a:r>
            <a:r>
              <a:rPr lang="ko-KR" altLang="en-US" dirty="0"/>
              <a:t>경험 정리</a:t>
            </a:r>
            <a:r>
              <a:rPr lang="en-US" altLang="ko-KR" dirty="0"/>
              <a:t>·</a:t>
            </a:r>
            <a:r>
              <a:rPr lang="ko-KR" altLang="en-US" dirty="0"/>
              <a:t>공고 분석 의도 분류</a:t>
            </a:r>
          </a:p>
          <a:p>
            <a:pPr>
              <a:buFont typeface="Arial" panose="020B0604020202020204" pitchFamily="34" charset="0"/>
              <a:buChar char="•"/>
            </a:pPr>
            <a:r>
              <a:rPr lang="ko-KR" altLang="en-US" dirty="0"/>
              <a:t>경험</a:t>
            </a:r>
            <a:r>
              <a:rPr lang="en-US" altLang="ko-KR" dirty="0"/>
              <a:t>·</a:t>
            </a:r>
            <a:r>
              <a:rPr lang="ko-KR" altLang="en-US" dirty="0"/>
              <a:t>공고</a:t>
            </a:r>
            <a:r>
              <a:rPr lang="en-US" altLang="ko-KR" dirty="0"/>
              <a:t>·</a:t>
            </a:r>
            <a:r>
              <a:rPr lang="ko-KR" altLang="en-US" dirty="0"/>
              <a:t>혼합</a:t>
            </a:r>
            <a:r>
              <a:rPr lang="en-US" altLang="ko-KR" dirty="0"/>
              <a:t>·</a:t>
            </a:r>
            <a:r>
              <a:rPr lang="ko-KR" altLang="en-US" dirty="0"/>
              <a:t>무관</a:t>
            </a:r>
            <a:r>
              <a:rPr lang="en-US" altLang="ko-KR" dirty="0"/>
              <a:t>·</a:t>
            </a:r>
            <a:r>
              <a:rPr lang="ko-KR" altLang="en-US" dirty="0"/>
              <a:t>불확실 콘텐츠 분류</a:t>
            </a:r>
          </a:p>
          <a:p>
            <a:pPr>
              <a:buFont typeface="Arial" panose="020B0604020202020204" pitchFamily="34" charset="0"/>
              <a:buChar char="•"/>
            </a:pPr>
            <a:r>
              <a:rPr lang="ko-KR" altLang="en-US" dirty="0"/>
              <a:t>짧은 사용자 답변의 문맥 복원</a:t>
            </a:r>
          </a:p>
          <a:p>
            <a:pPr>
              <a:buFont typeface="Arial" panose="020B0604020202020204" pitchFamily="34" charset="0"/>
              <a:buChar char="•"/>
            </a:pPr>
            <a:r>
              <a:rPr lang="ko-KR" altLang="en-US" dirty="0"/>
              <a:t>경험 사실 및 역할</a:t>
            </a:r>
            <a:r>
              <a:rPr lang="en-US" altLang="ko-KR" dirty="0"/>
              <a:t>·</a:t>
            </a:r>
            <a:r>
              <a:rPr lang="ko-KR" altLang="en-US" dirty="0"/>
              <a:t>행동</a:t>
            </a:r>
            <a:r>
              <a:rPr lang="en-US" altLang="ko-KR" dirty="0"/>
              <a:t>·</a:t>
            </a:r>
            <a:r>
              <a:rPr lang="ko-KR" altLang="en-US" dirty="0"/>
              <a:t>성과 추출</a:t>
            </a:r>
          </a:p>
          <a:p>
            <a:pPr>
              <a:buFont typeface="Arial" panose="020B0604020202020204" pitchFamily="34" charset="0"/>
              <a:buChar char="•"/>
            </a:pPr>
            <a:r>
              <a:rPr lang="ko-KR" altLang="en-US" dirty="0"/>
              <a:t>채용공고 요구사항 이해</a:t>
            </a:r>
          </a:p>
          <a:p>
            <a:pPr>
              <a:buFont typeface="Arial" panose="020B0604020202020204" pitchFamily="34" charset="0"/>
              <a:buChar char="•"/>
            </a:pPr>
            <a:r>
              <a:rPr lang="ko-KR" altLang="en-US" dirty="0"/>
              <a:t>기술 별칭과 관련 기술 구분</a:t>
            </a:r>
          </a:p>
          <a:p>
            <a:pPr>
              <a:buFont typeface="Arial" panose="020B0604020202020204" pitchFamily="34" charset="0"/>
              <a:buChar char="•"/>
            </a:pPr>
            <a:r>
              <a:rPr lang="ko-KR" altLang="en-US" dirty="0"/>
              <a:t>정량 조건 해석</a:t>
            </a:r>
          </a:p>
          <a:p>
            <a:pPr>
              <a:buFont typeface="Arial" panose="020B0604020202020204" pitchFamily="34" charset="0"/>
              <a:buChar char="•"/>
            </a:pPr>
            <a:r>
              <a:rPr lang="ko-KR" altLang="en-US" dirty="0"/>
              <a:t>공고 요구사항과 경험의 의미적 연결</a:t>
            </a:r>
          </a:p>
        </p:txBody>
      </p:sp>
    </p:spTree>
    <p:extLst>
      <p:ext uri="{BB962C8B-B14F-4D97-AF65-F5344CB8AC3E}">
        <p14:creationId xmlns:p14="http://schemas.microsoft.com/office/powerpoint/2010/main" val="2272454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09E9D6-6035-4A00-BDCC-06E922EB7598}"/>
              </a:ext>
            </a:extLst>
          </p:cNvPr>
          <p:cNvSpPr txBox="1"/>
          <p:nvPr/>
        </p:nvSpPr>
        <p:spPr>
          <a:xfrm>
            <a:off x="3048000" y="1030456"/>
            <a:ext cx="6096000"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a:ln>
                  <a:noFill/>
                </a:ln>
                <a:solidFill>
                  <a:srgbClr val="FF0000"/>
                </a:solidFill>
                <a:effectLst/>
                <a:latin typeface="Arial" panose="020B0604020202020204" pitchFamily="34" charset="0"/>
              </a:rPr>
              <a:t>포트폴리오로 제출해도 되는가?</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충분히 제출할 만합니다. 특히 단순한 LLM API 호출 프로젝트와 구분되는 장점이 분명합니다.</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원문과 AI 생성 데이터를 분리함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근거 없는 주장을 차단함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정형·비정형 데이터를 함께 처리함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의미 검색과 정확한 규칙 판정을 분리함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기술 별칭과 관계를 명시적으로 모델링함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수치를 LLM에 맡기지 않고 재검증함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비용·속도·품질을 실제 usage로 측정함</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400" b="0" i="0" u="none" strike="noStrike" cap="none" normalizeH="0" baseline="0" dirty="0">
                <a:ln>
                  <a:noFill/>
                </a:ln>
                <a:solidFill>
                  <a:schemeClr val="tx1"/>
                </a:solidFill>
                <a:effectLst/>
                <a:latin typeface="Arial" panose="020B0604020202020204" pitchFamily="34" charset="0"/>
              </a:rPr>
              <a:t>테스트와 정답 세트 평가가 존재함</a:t>
            </a:r>
            <a:endParaRPr kumimoji="0" lang="en-US"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ko-KR" altLang="ko-K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포트폴리오에는 다음처럼 적는 것을 추천합니다.</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rgbClr val="FF0000"/>
                </a:solidFill>
                <a:effectLst/>
                <a:latin typeface="Arial" panose="020B0604020202020204" pitchFamily="34" charset="0"/>
              </a:rPr>
              <a:t>커리어 대화·문서·채용공고 원문을 손실 없이 보존하고, 경험·기술·정량 성과·공고 요구사항 간 관계를 구조화하는 경량 도메인 온톨로지를 설계했습니다. 임베딩은 후보 검색에만 사용하고, canonical 기술 ID·정량 조건·원문 인용 검증으로 최종 매칭을 결정하는 하이브리드 NLU/RAG 파이프라인을 구현했습니다.</a:t>
            </a:r>
            <a:endParaRPr kumimoji="0" lang="en-US" altLang="ko-KR" sz="14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4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chemeClr val="tx1"/>
                </a:solidFill>
                <a:effectLst/>
                <a:latin typeface="Arial" panose="020B0604020202020204" pitchFamily="34" charset="0"/>
              </a:rPr>
              <a:t>데이터 구조에 대해서는:</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rgbClr val="FF0000"/>
                </a:solidFill>
                <a:effectLst/>
                <a:latin typeface="Arial" panose="020B0604020202020204" pitchFamily="34" charset="0"/>
              </a:rPr>
              <a:t>원본–근거–구조화 정보–검색 인덱스를 분리하여 데이터 레이크의 계층화와 lineage 원칙을 적용했으며, 향후 객체 저장소와 데이터 카탈로그로 확장 가능한 구조를 마련했습니다.</a:t>
            </a:r>
          </a:p>
        </p:txBody>
      </p:sp>
    </p:spTree>
    <p:extLst>
      <p:ext uri="{BB962C8B-B14F-4D97-AF65-F5344CB8AC3E}">
        <p14:creationId xmlns:p14="http://schemas.microsoft.com/office/powerpoint/2010/main" val="3822567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C987540B-3972-4C5A-83E3-EB8A2C7BF0C7}"/>
              </a:ext>
            </a:extLst>
          </p:cNvPr>
          <p:cNvGraphicFramePr>
            <a:graphicFrameLocks noChangeAspect="1"/>
          </p:cNvGraphicFramePr>
          <p:nvPr>
            <p:extLst>
              <p:ext uri="{D42A27DB-BD31-4B8C-83A1-F6EECF244321}">
                <p14:modId xmlns:p14="http://schemas.microsoft.com/office/powerpoint/2010/main" val="2556279163"/>
              </p:ext>
            </p:extLst>
          </p:nvPr>
        </p:nvGraphicFramePr>
        <p:xfrm>
          <a:off x="-548981" y="2632074"/>
          <a:ext cx="12908962" cy="2308225"/>
        </p:xfrm>
        <a:graphic>
          <a:graphicData uri="http://schemas.openxmlformats.org/presentationml/2006/ole">
            <mc:AlternateContent xmlns:mc="http://schemas.openxmlformats.org/markup-compatibility/2006">
              <mc:Choice xmlns:v="urn:schemas-microsoft-com:vml" Requires="v">
                <p:oleObj spid="_x0000_s16387" name="Packager Shell Object" showAsIcon="1" r:id="rId3" imgW="2876456" imgH="514350" progId="Package">
                  <p:embed/>
                </p:oleObj>
              </mc:Choice>
              <mc:Fallback>
                <p:oleObj name="Packager Shell Object" showAsIcon="1" r:id="rId3" imgW="2876456" imgH="514350" progId="Package">
                  <p:embed/>
                  <p:pic>
                    <p:nvPicPr>
                      <p:cNvPr id="0" name=""/>
                      <p:cNvPicPr/>
                      <p:nvPr/>
                    </p:nvPicPr>
                    <p:blipFill>
                      <a:blip r:embed="rId4"/>
                      <a:stretch>
                        <a:fillRect/>
                      </a:stretch>
                    </p:blipFill>
                    <p:spPr>
                      <a:xfrm>
                        <a:off x="-548981" y="2632074"/>
                        <a:ext cx="12908962" cy="2308225"/>
                      </a:xfrm>
                      <a:prstGeom prst="rect">
                        <a:avLst/>
                      </a:prstGeom>
                    </p:spPr>
                  </p:pic>
                </p:oleObj>
              </mc:Fallback>
            </mc:AlternateContent>
          </a:graphicData>
        </a:graphic>
      </p:graphicFrame>
    </p:spTree>
    <p:extLst>
      <p:ext uri="{BB962C8B-B14F-4D97-AF65-F5344CB8AC3E}">
        <p14:creationId xmlns:p14="http://schemas.microsoft.com/office/powerpoint/2010/main" val="3860033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742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1500</TotalTime>
  <Words>3904</Words>
  <Application>Microsoft Office PowerPoint</Application>
  <PresentationFormat>Widescreen</PresentationFormat>
  <Paragraphs>542</Paragraphs>
  <Slides>26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2" baseType="lpstr">
      <vt:lpstr>Arial Unicode MS</vt:lpstr>
      <vt:lpstr>맑은 고딕</vt:lpstr>
      <vt:lpstr>Arial</vt:lpstr>
      <vt:lpstr>Wingdings</vt:lpstr>
      <vt:lpstr>Office Theme</vt:lpstr>
      <vt:lpstr>Package</vt:lpstr>
      <vt:lpstr>커리어 메모리</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커리어 메모리</dc:title>
  <dc:creator>mbc</dc:creator>
  <cp:lastModifiedBy>mbc</cp:lastModifiedBy>
  <cp:revision>20</cp:revision>
  <dcterms:created xsi:type="dcterms:W3CDTF">2026-10-06T07:34:22Z</dcterms:created>
  <dcterms:modified xsi:type="dcterms:W3CDTF">2026-10-07T08:35:08Z</dcterms:modified>
</cp:coreProperties>
</file>